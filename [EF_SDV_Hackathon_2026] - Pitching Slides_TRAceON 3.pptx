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7"/>
  </p:notesMasterIdLst>
  <p:sldIdLst>
    <p:sldId id="256" r:id="rId2"/>
    <p:sldId id="258" r:id="rId3"/>
    <p:sldId id="257" r:id="rId4"/>
    <p:sldId id="265" r:id="rId5"/>
    <p:sldId id="259" r:id="rId6"/>
    <p:sldId id="264" r:id="rId7"/>
    <p:sldId id="268" r:id="rId8"/>
    <p:sldId id="267" r:id="rId9"/>
    <p:sldId id="270" r:id="rId10"/>
    <p:sldId id="271" r:id="rId11"/>
    <p:sldId id="260" r:id="rId12"/>
    <p:sldId id="269" r:id="rId13"/>
    <p:sldId id="261" r:id="rId14"/>
    <p:sldId id="262" r:id="rId15"/>
    <p:sldId id="263"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h6b2788cdbe65c0ea_1_0:notes"/>
          <p:cNvSpPr txBox="1">
            <a:spLocks noGrp="1"/>
          </p:cNvSpPr>
          <p:nvPr>
            <p:ph type="body" idx="1"/>
          </p:nvPr>
        </p:nvSpPr>
        <p:spPr>
          <a:xfrm>
            <a:off x="914400" y="3251200"/>
            <a:ext cx="7315200" cy="308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h6b2788cdbe65c0ea_1_0: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h6b2788cdbe65c0ea_1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h6b2788cdbe65c0ea_1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h6b2788cdbe65c0ea_1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h6b2788cdbe65c0ea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5D671B15-2848-7132-D34B-1DF61AA28151}"/>
            </a:ext>
          </a:extLst>
        </p:cNvPr>
        <p:cNvGrpSpPr/>
        <p:nvPr/>
      </p:nvGrpSpPr>
      <p:grpSpPr>
        <a:xfrm>
          <a:off x="0" y="0"/>
          <a:ext cx="0" cy="0"/>
          <a:chOff x="0" y="0"/>
          <a:chExt cx="0" cy="0"/>
        </a:xfrm>
      </p:grpSpPr>
      <p:sp>
        <p:nvSpPr>
          <p:cNvPr id="73" name="Google Shape;73;h6b2788cdbe65c0ea_1_82:notes">
            <a:extLst>
              <a:ext uri="{FF2B5EF4-FFF2-40B4-BE49-F238E27FC236}">
                <a16:creationId xmlns:a16="http://schemas.microsoft.com/office/drawing/2014/main" id="{C0BB1692-82F9-E277-81C3-A91F998481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h6b2788cdbe65c0ea_1_82:notes">
            <a:extLst>
              <a:ext uri="{FF2B5EF4-FFF2-40B4-BE49-F238E27FC236}">
                <a16:creationId xmlns:a16="http://schemas.microsoft.com/office/drawing/2014/main" id="{14FD942F-EE73-495B-95D9-20AA640492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2084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h6b2788cdbe65c0ea_1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h6b2788cdbe65c0ea_1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h6b2788cdbe65c0ea_1_65:notes"/>
          <p:cNvSpPr txBox="1">
            <a:spLocks noGrp="1"/>
          </p:cNvSpPr>
          <p:nvPr>
            <p:ph type="body" idx="1"/>
          </p:nvPr>
        </p:nvSpPr>
        <p:spPr>
          <a:xfrm>
            <a:off x="914400" y="3251200"/>
            <a:ext cx="7315200" cy="308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h6b2788cdbe65c0ea_1_65: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h6b2788cdbe65c0ea_1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h6b2788cdbe65c0ea_1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A67D1108-177D-5CC2-25D9-4E7B0BBE8135}"/>
            </a:ext>
          </a:extLst>
        </p:cNvPr>
        <p:cNvGrpSpPr/>
        <p:nvPr/>
      </p:nvGrpSpPr>
      <p:grpSpPr>
        <a:xfrm>
          <a:off x="0" y="0"/>
          <a:ext cx="0" cy="0"/>
          <a:chOff x="0" y="0"/>
          <a:chExt cx="0" cy="0"/>
        </a:xfrm>
      </p:grpSpPr>
      <p:sp>
        <p:nvSpPr>
          <p:cNvPr id="129" name="Google Shape;129;h6b2788cdbe65c0ea_1_65:notes">
            <a:extLst>
              <a:ext uri="{FF2B5EF4-FFF2-40B4-BE49-F238E27FC236}">
                <a16:creationId xmlns:a16="http://schemas.microsoft.com/office/drawing/2014/main" id="{BBBF66CA-04A9-C554-22B0-10EFC3743B8E}"/>
              </a:ext>
            </a:extLst>
          </p:cNvPr>
          <p:cNvSpPr txBox="1">
            <a:spLocks noGrp="1"/>
          </p:cNvSpPr>
          <p:nvPr>
            <p:ph type="body" idx="1"/>
          </p:nvPr>
        </p:nvSpPr>
        <p:spPr>
          <a:xfrm>
            <a:off x="914400" y="3251200"/>
            <a:ext cx="7315200" cy="308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h6b2788cdbe65c0ea_1_65:notes">
            <a:extLst>
              <a:ext uri="{FF2B5EF4-FFF2-40B4-BE49-F238E27FC236}">
                <a16:creationId xmlns:a16="http://schemas.microsoft.com/office/drawing/2014/main" id="{665A5E0B-766F-09E2-C03F-7AE092D4A0B1}"/>
              </a:ext>
            </a:extLst>
          </p:cNvPr>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2468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h6b2788cdbe65c0ea_1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h6b2788cdbe65c0ea_1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h6b2788cdbe65c0ea_1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h6b2788cdbe65c0ea_1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h6b2788cdbe65c0ea_1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h6b2788cdbe65c0ea_1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g"/><Relationship Id="rId12"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7.png"/><Relationship Id="rId11" Type="http://schemas.openxmlformats.org/officeDocument/2006/relationships/image" Target="../media/image12.jpeg"/><Relationship Id="rId5" Type="http://schemas.openxmlformats.org/officeDocument/2006/relationships/image" Target="../media/image6.png"/><Relationship Id="rId10" Type="http://schemas.openxmlformats.org/officeDocument/2006/relationships/image" Target="../media/image11.jpeg"/><Relationship Id="rId4" Type="http://schemas.openxmlformats.org/officeDocument/2006/relationships/image" Target="../media/image5.png"/><Relationship Id="rId9" Type="http://schemas.openxmlformats.org/officeDocument/2006/relationships/image" Target="../media/image10.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531B4C"/>
            </a:gs>
            <a:gs pos="100000">
              <a:srgbClr val="AB0761"/>
            </a:gs>
          </a:gsLst>
          <a:lin ang="2700006" scaled="0"/>
        </a:gradFill>
        <a:effectLst/>
      </p:bgPr>
    </p:bg>
    <p:spTree>
      <p:nvGrpSpPr>
        <p:cNvPr id="1" name="Shape 57"/>
        <p:cNvGrpSpPr/>
        <p:nvPr/>
      </p:nvGrpSpPr>
      <p:grpSpPr>
        <a:xfrm>
          <a:off x="0" y="0"/>
          <a:ext cx="0" cy="0"/>
          <a:chOff x="0" y="0"/>
          <a:chExt cx="0" cy="0"/>
        </a:xfrm>
      </p:grpSpPr>
      <p:grpSp>
        <p:nvGrpSpPr>
          <p:cNvPr id="58" name="Google Shape;58;p14"/>
          <p:cNvGrpSpPr/>
          <p:nvPr/>
        </p:nvGrpSpPr>
        <p:grpSpPr>
          <a:xfrm>
            <a:off x="597450" y="4235100"/>
            <a:ext cx="2423155" cy="456311"/>
            <a:chOff x="0" y="-9525"/>
            <a:chExt cx="1344032" cy="415925"/>
          </a:xfrm>
        </p:grpSpPr>
        <p:sp>
          <p:nvSpPr>
            <p:cNvPr id="59" name="Google Shape;59;p14"/>
            <p:cNvSpPr/>
            <p:nvPr/>
          </p:nvSpPr>
          <p:spPr>
            <a:xfrm>
              <a:off x="0" y="0"/>
              <a:ext cx="1344032" cy="406400"/>
            </a:xfrm>
            <a:custGeom>
              <a:avLst/>
              <a:gdLst/>
              <a:ahLst/>
              <a:cxnLst/>
              <a:rect l="l" t="t" r="r" b="b"/>
              <a:pathLst>
                <a:path w="1344032" h="406400" extrusionOk="0">
                  <a:moveTo>
                    <a:pt x="1140832" y="0"/>
                  </a:moveTo>
                  <a:cubicBezTo>
                    <a:pt x="1253056" y="0"/>
                    <a:pt x="1344032" y="90976"/>
                    <a:pt x="1344032" y="203200"/>
                  </a:cubicBezTo>
                  <a:cubicBezTo>
                    <a:pt x="1344032" y="315424"/>
                    <a:pt x="1253056" y="406400"/>
                    <a:pt x="1140832" y="406400"/>
                  </a:cubicBezTo>
                  <a:lnTo>
                    <a:pt x="203200" y="406400"/>
                  </a:lnTo>
                  <a:cubicBezTo>
                    <a:pt x="90976" y="406400"/>
                    <a:pt x="0" y="315424"/>
                    <a:pt x="0" y="203200"/>
                  </a:cubicBezTo>
                  <a:cubicBezTo>
                    <a:pt x="0" y="90976"/>
                    <a:pt x="90976" y="0"/>
                    <a:pt x="203200" y="0"/>
                  </a:cubicBezTo>
                  <a:close/>
                </a:path>
              </a:pathLst>
            </a:custGeom>
            <a:noFill/>
            <a:ln w="13850" cap="sq" cmpd="sng">
              <a:solidFill>
                <a:srgbClr val="000000"/>
              </a:solidFill>
              <a:prstDash val="solid"/>
              <a:miter lim="8000"/>
              <a:headEnd type="none" w="sm" len="sm"/>
              <a:tailEnd type="none" w="sm" len="sm"/>
            </a:ln>
          </p:spPr>
          <p:txBody>
            <a:bodyPr spcFirstLastPara="1" wrap="square" lIns="66450" tIns="66450" rIns="66450" bIns="66450" anchor="ctr" anchorCtr="0">
              <a:noAutofit/>
            </a:bodyPr>
            <a:lstStyle/>
            <a:p>
              <a:pPr marL="0" lvl="0" indent="0" algn="l" rtl="0">
                <a:spcBef>
                  <a:spcPts val="0"/>
                </a:spcBef>
                <a:spcAft>
                  <a:spcPts val="0"/>
                </a:spcAft>
                <a:buNone/>
              </a:pPr>
              <a:endParaRPr/>
            </a:p>
          </p:txBody>
        </p:sp>
        <p:sp>
          <p:nvSpPr>
            <p:cNvPr id="60" name="Google Shape;60;p14"/>
            <p:cNvSpPr txBox="1"/>
            <p:nvPr/>
          </p:nvSpPr>
          <p:spPr>
            <a:xfrm>
              <a:off x="0" y="-9525"/>
              <a:ext cx="1344000" cy="415800"/>
            </a:xfrm>
            <a:prstGeom prst="rect">
              <a:avLst/>
            </a:prstGeom>
            <a:noFill/>
            <a:ln>
              <a:noFill/>
            </a:ln>
          </p:spPr>
          <p:txBody>
            <a:bodyPr spcFirstLastPara="1" wrap="square" lIns="36900" tIns="36900" rIns="36900" bIns="36900" anchor="ctr" anchorCtr="0">
              <a:noAutofit/>
            </a:bodyPr>
            <a:lstStyle/>
            <a:p>
              <a:pPr marL="0" marR="0" lvl="0" indent="0" algn="ctr" rtl="0">
                <a:lnSpc>
                  <a:spcPct val="120000"/>
                </a:lnSpc>
                <a:spcBef>
                  <a:spcPts val="0"/>
                </a:spcBef>
                <a:spcAft>
                  <a:spcPts val="0"/>
                </a:spcAft>
                <a:buNone/>
              </a:pPr>
              <a:endParaRPr sz="1308" b="0" i="0" u="none" strike="noStrike" cap="none">
                <a:solidFill>
                  <a:schemeClr val="dk1"/>
                </a:solidFill>
                <a:latin typeface="Calibri"/>
                <a:ea typeface="Calibri"/>
                <a:cs typeface="Calibri"/>
                <a:sym typeface="Calibri"/>
              </a:endParaRPr>
            </a:p>
          </p:txBody>
        </p:sp>
      </p:grpSp>
      <p:sp>
        <p:nvSpPr>
          <p:cNvPr id="61" name="Google Shape;61;p14"/>
          <p:cNvSpPr txBox="1"/>
          <p:nvPr/>
        </p:nvSpPr>
        <p:spPr>
          <a:xfrm>
            <a:off x="531150" y="1979650"/>
            <a:ext cx="5610600" cy="456300"/>
          </a:xfrm>
          <a:prstGeom prst="rect">
            <a:avLst/>
          </a:prstGeom>
          <a:noFill/>
          <a:ln>
            <a:noFill/>
          </a:ln>
        </p:spPr>
        <p:txBody>
          <a:bodyPr spcFirstLastPara="1" wrap="square" lIns="0" tIns="0" rIns="0" bIns="0" anchor="t" anchorCtr="0">
            <a:spAutoFit/>
          </a:bodyPr>
          <a:lstStyle/>
          <a:p>
            <a:pPr marL="0" marR="0" lvl="0" indent="0" algn="l" rtl="0">
              <a:lnSpc>
                <a:spcPct val="97999"/>
              </a:lnSpc>
              <a:spcBef>
                <a:spcPts val="0"/>
              </a:spcBef>
              <a:spcAft>
                <a:spcPts val="0"/>
              </a:spcAft>
              <a:buNone/>
            </a:pPr>
            <a:r>
              <a:rPr lang="en" sz="2800" b="0" i="0" u="none" strike="noStrike" cap="none">
                <a:solidFill>
                  <a:srgbClr val="FFFFFF"/>
                </a:solidFill>
                <a:latin typeface="Arial"/>
                <a:ea typeface="Arial"/>
                <a:cs typeface="Arial"/>
                <a:sym typeface="Arial"/>
              </a:rPr>
              <a:t>Eclipse SDV Hackathon</a:t>
            </a:r>
            <a:r>
              <a:rPr lang="en" sz="2800">
                <a:solidFill>
                  <a:srgbClr val="FFFFFF"/>
                </a:solidFill>
              </a:rPr>
              <a:t> </a:t>
            </a:r>
            <a:r>
              <a:rPr lang="en" sz="2800" b="1">
                <a:solidFill>
                  <a:srgbClr val="DB521D"/>
                </a:solidFill>
              </a:rPr>
              <a:t>Chapter 4</a:t>
            </a:r>
            <a:endParaRPr sz="2800" b="1">
              <a:solidFill>
                <a:srgbClr val="DB521D"/>
              </a:solidFill>
            </a:endParaRPr>
          </a:p>
          <a:p>
            <a:pPr marL="0" marR="0" lvl="0" indent="0" algn="l" rtl="0">
              <a:lnSpc>
                <a:spcPct val="97999"/>
              </a:lnSpc>
              <a:spcBef>
                <a:spcPts val="0"/>
              </a:spcBef>
              <a:spcAft>
                <a:spcPts val="0"/>
              </a:spcAft>
              <a:buNone/>
            </a:pPr>
            <a:endParaRPr sz="100"/>
          </a:p>
        </p:txBody>
      </p:sp>
      <p:grpSp>
        <p:nvGrpSpPr>
          <p:cNvPr id="62" name="Google Shape;62;p14"/>
          <p:cNvGrpSpPr/>
          <p:nvPr/>
        </p:nvGrpSpPr>
        <p:grpSpPr>
          <a:xfrm>
            <a:off x="560650" y="2571750"/>
            <a:ext cx="4855381" cy="958407"/>
            <a:chOff x="0" y="-9525"/>
            <a:chExt cx="935400" cy="374100"/>
          </a:xfrm>
        </p:grpSpPr>
        <p:sp>
          <p:nvSpPr>
            <p:cNvPr id="63" name="Google Shape;63;p14"/>
            <p:cNvSpPr/>
            <p:nvPr/>
          </p:nvSpPr>
          <p:spPr>
            <a:xfrm>
              <a:off x="0" y="0"/>
              <a:ext cx="935371" cy="364517"/>
            </a:xfrm>
            <a:custGeom>
              <a:avLst/>
              <a:gdLst/>
              <a:ahLst/>
              <a:cxnLst/>
              <a:rect l="l" t="t" r="r" b="b"/>
              <a:pathLst>
                <a:path w="935371" h="364517" extrusionOk="0">
                  <a:moveTo>
                    <a:pt x="732171" y="0"/>
                  </a:moveTo>
                  <a:cubicBezTo>
                    <a:pt x="844395" y="0"/>
                    <a:pt x="935371" y="81600"/>
                    <a:pt x="935371" y="182258"/>
                  </a:cubicBezTo>
                  <a:cubicBezTo>
                    <a:pt x="935371" y="282917"/>
                    <a:pt x="844395" y="364517"/>
                    <a:pt x="732171" y="364517"/>
                  </a:cubicBezTo>
                  <a:lnTo>
                    <a:pt x="203200" y="364517"/>
                  </a:lnTo>
                  <a:cubicBezTo>
                    <a:pt x="90976" y="364517"/>
                    <a:pt x="0" y="282917"/>
                    <a:pt x="0" y="182258"/>
                  </a:cubicBezTo>
                  <a:cubicBezTo>
                    <a:pt x="0" y="81600"/>
                    <a:pt x="90976" y="0"/>
                    <a:pt x="203200" y="0"/>
                  </a:cubicBezTo>
                  <a:close/>
                </a:path>
              </a:pathLst>
            </a:custGeom>
            <a:noFill/>
            <a:ln w="9525" cap="sq" cmpd="sng">
              <a:solidFill>
                <a:srgbClr val="000000"/>
              </a:solidFill>
              <a:prstDash val="solid"/>
              <a:miter lim="8000"/>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64" name="Google Shape;64;p14"/>
            <p:cNvSpPr txBox="1"/>
            <p:nvPr/>
          </p:nvSpPr>
          <p:spPr>
            <a:xfrm>
              <a:off x="0" y="-9525"/>
              <a:ext cx="935400" cy="374100"/>
            </a:xfrm>
            <a:prstGeom prst="rect">
              <a:avLst/>
            </a:prstGeom>
            <a:noFill/>
            <a:ln>
              <a:noFill/>
            </a:ln>
          </p:spPr>
          <p:txBody>
            <a:bodyPr spcFirstLastPara="1" wrap="square" lIns="25400" tIns="25400" rIns="25400" bIns="25400" anchor="ctr" anchorCtr="0">
              <a:noAutofit/>
            </a:bodyPr>
            <a:lstStyle/>
            <a:p>
              <a:pPr marL="0" marR="0" lvl="0" indent="0" algn="ctr" rtl="0">
                <a:lnSpc>
                  <a:spcPct val="120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65" name="Google Shape;65;p14"/>
          <p:cNvSpPr txBox="1"/>
          <p:nvPr/>
        </p:nvSpPr>
        <p:spPr>
          <a:xfrm>
            <a:off x="928825" y="4362650"/>
            <a:ext cx="1760400" cy="169200"/>
          </a:xfrm>
          <a:prstGeom prst="rect">
            <a:avLst/>
          </a:prstGeom>
          <a:noFill/>
          <a:ln>
            <a:noFill/>
          </a:ln>
        </p:spPr>
        <p:txBody>
          <a:bodyPr spcFirstLastPara="1" wrap="square" lIns="0" tIns="0" rIns="0" bIns="0" anchor="t" anchorCtr="0">
            <a:spAutoFit/>
          </a:bodyPr>
          <a:lstStyle/>
          <a:p>
            <a:pPr marL="0" marR="0" lvl="0" indent="0" algn="ctr" rtl="0">
              <a:lnSpc>
                <a:spcPct val="120008"/>
              </a:lnSpc>
              <a:spcBef>
                <a:spcPts val="0"/>
              </a:spcBef>
              <a:spcAft>
                <a:spcPts val="0"/>
              </a:spcAft>
              <a:buNone/>
            </a:pPr>
            <a:r>
              <a:rPr lang="en" sz="1100" b="1">
                <a:solidFill>
                  <a:srgbClr val="FFFFFF"/>
                </a:solidFill>
                <a:latin typeface="Sora"/>
                <a:ea typeface="Sora"/>
                <a:cs typeface="Sora"/>
                <a:sym typeface="Sora"/>
              </a:rPr>
              <a:t>October 6-8 </a:t>
            </a:r>
            <a:r>
              <a:rPr lang="en" sz="1100" b="1" i="0" u="none" strike="noStrike" cap="none">
                <a:solidFill>
                  <a:srgbClr val="FFFFFF"/>
                </a:solidFill>
                <a:latin typeface="Sora"/>
                <a:ea typeface="Sora"/>
                <a:cs typeface="Sora"/>
                <a:sym typeface="Sora"/>
              </a:rPr>
              <a:t> 2026</a:t>
            </a:r>
            <a:endParaRPr sz="700" b="1">
              <a:latin typeface="Sora"/>
              <a:ea typeface="Sora"/>
              <a:cs typeface="Sora"/>
              <a:sym typeface="Sora"/>
            </a:endParaRPr>
          </a:p>
        </p:txBody>
      </p:sp>
      <p:cxnSp>
        <p:nvCxnSpPr>
          <p:cNvPr id="66" name="Google Shape;66;p14"/>
          <p:cNvCxnSpPr/>
          <p:nvPr/>
        </p:nvCxnSpPr>
        <p:spPr>
          <a:xfrm>
            <a:off x="656394" y="3946404"/>
            <a:ext cx="2148300" cy="0"/>
          </a:xfrm>
          <a:prstGeom prst="straightConnector1">
            <a:avLst/>
          </a:prstGeom>
          <a:noFill/>
          <a:ln w="19050" cap="flat" cmpd="sng">
            <a:solidFill>
              <a:srgbClr val="000000"/>
            </a:solidFill>
            <a:prstDash val="solid"/>
            <a:round/>
            <a:headEnd type="none" w="sm" len="sm"/>
            <a:tailEnd type="none" w="sm" len="sm"/>
          </a:ln>
        </p:spPr>
      </p:cxnSp>
      <p:sp>
        <p:nvSpPr>
          <p:cNvPr id="67" name="Google Shape;67;p14"/>
          <p:cNvSpPr/>
          <p:nvPr/>
        </p:nvSpPr>
        <p:spPr>
          <a:xfrm>
            <a:off x="2395624" y="512011"/>
            <a:ext cx="1376366" cy="702594"/>
          </a:xfrm>
          <a:custGeom>
            <a:avLst/>
            <a:gdLst/>
            <a:ahLst/>
            <a:cxnLst/>
            <a:rect l="l" t="t" r="r" b="b"/>
            <a:pathLst>
              <a:path w="4475988" h="2284857" extrusionOk="0">
                <a:moveTo>
                  <a:pt x="0" y="0"/>
                </a:moveTo>
                <a:lnTo>
                  <a:pt x="4475988" y="0"/>
                </a:lnTo>
                <a:lnTo>
                  <a:pt x="4475988" y="2284857"/>
                </a:lnTo>
                <a:lnTo>
                  <a:pt x="0" y="2284857"/>
                </a:lnTo>
                <a:lnTo>
                  <a:pt x="0" y="0"/>
                </a:lnTo>
                <a:close/>
              </a:path>
            </a:pathLst>
          </a:custGeom>
          <a:blipFill rotWithShape="1">
            <a:blip r:embed="rId3">
              <a:alphaModFix/>
            </a:blip>
            <a:stretch>
              <a:fillRect l="-6430" r="-6420" b="-3200"/>
            </a:stretch>
          </a:blipFill>
          <a:ln>
            <a:noFill/>
          </a:ln>
        </p:spPr>
        <p:txBody>
          <a:bodyPr/>
          <a:lstStyle/>
          <a:p>
            <a:endParaRPr lang="en-US"/>
          </a:p>
        </p:txBody>
      </p:sp>
      <p:sp>
        <p:nvSpPr>
          <p:cNvPr id="68" name="Google Shape;68;p14"/>
          <p:cNvSpPr/>
          <p:nvPr/>
        </p:nvSpPr>
        <p:spPr>
          <a:xfrm>
            <a:off x="168246" y="329995"/>
            <a:ext cx="2423160" cy="1066609"/>
          </a:xfrm>
          <a:custGeom>
            <a:avLst/>
            <a:gdLst/>
            <a:ahLst/>
            <a:cxnLst/>
            <a:rect l="l" t="t" r="r" b="b"/>
            <a:pathLst>
              <a:path w="6461760" h="2844292" extrusionOk="0">
                <a:moveTo>
                  <a:pt x="0" y="0"/>
                </a:moveTo>
                <a:lnTo>
                  <a:pt x="6461760" y="0"/>
                </a:lnTo>
                <a:lnTo>
                  <a:pt x="6461760" y="2844292"/>
                </a:lnTo>
                <a:lnTo>
                  <a:pt x="0" y="2844292"/>
                </a:lnTo>
                <a:lnTo>
                  <a:pt x="0" y="0"/>
                </a:lnTo>
                <a:close/>
              </a:path>
            </a:pathLst>
          </a:custGeom>
          <a:blipFill rotWithShape="1">
            <a:blip r:embed="rId4">
              <a:alphaModFix/>
            </a:blip>
            <a:stretch>
              <a:fillRect r="-60"/>
            </a:stretch>
          </a:blipFill>
          <a:ln>
            <a:noFill/>
          </a:ln>
        </p:spPr>
        <p:txBody>
          <a:bodyPr/>
          <a:lstStyle/>
          <a:p>
            <a:endParaRPr lang="en-US"/>
          </a:p>
        </p:txBody>
      </p:sp>
      <p:pic>
        <p:nvPicPr>
          <p:cNvPr id="69" name="Google Shape;69;p14" title="2026_SDV_hackathon_logo_.png"/>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70" name="Google Shape;70;p14"/>
          <p:cNvSpPr txBox="1"/>
          <p:nvPr/>
        </p:nvSpPr>
        <p:spPr>
          <a:xfrm>
            <a:off x="850225" y="2693325"/>
            <a:ext cx="4122600" cy="70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solidFill>
                  <a:schemeClr val="lt1"/>
                </a:solidFill>
                <a:latin typeface="Inter"/>
                <a:ea typeface="Inter"/>
                <a:cs typeface="Inter"/>
                <a:sym typeface="Inter"/>
              </a:rPr>
              <a:t>Pitching session</a:t>
            </a:r>
          </a:p>
          <a:p>
            <a:pPr marL="0" lvl="0" indent="0" algn="ctr" rtl="0">
              <a:spcBef>
                <a:spcPts val="0"/>
              </a:spcBef>
              <a:spcAft>
                <a:spcPts val="0"/>
              </a:spcAft>
              <a:buNone/>
            </a:pPr>
            <a:r>
              <a:rPr lang="en" sz="1800" b="1" dirty="0">
                <a:solidFill>
                  <a:schemeClr val="lt1"/>
                </a:solidFill>
                <a:latin typeface="Inter"/>
                <a:ea typeface="Inter"/>
                <a:cs typeface="Inter"/>
                <a:sym typeface="Inter"/>
              </a:rPr>
              <a:t>TRAceON</a:t>
            </a:r>
            <a:endParaRPr sz="1800" b="1" dirty="0">
              <a:solidFill>
                <a:schemeClr val="lt1"/>
              </a:solidFill>
              <a:latin typeface="Inter"/>
              <a:ea typeface="Inter"/>
              <a:cs typeface="Inter"/>
              <a:sym typeface="Inter"/>
            </a:endParaRPr>
          </a:p>
        </p:txBody>
      </p:sp>
      <p:sp>
        <p:nvSpPr>
          <p:cNvPr id="71" name="Google Shape;71;p14"/>
          <p:cNvSpPr txBox="1"/>
          <p:nvPr/>
        </p:nvSpPr>
        <p:spPr>
          <a:xfrm>
            <a:off x="3227575" y="4779825"/>
            <a:ext cx="3000000" cy="29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85" name="Google Shape;85;p16"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86" name="Google Shape;86;p16"/>
          <p:cNvSpPr txBox="1"/>
          <p:nvPr/>
        </p:nvSpPr>
        <p:spPr>
          <a:xfrm>
            <a:off x="712125" y="1146700"/>
            <a:ext cx="7360200" cy="3378900"/>
          </a:xfrm>
          <a:prstGeom prst="rect">
            <a:avLst/>
          </a:prstGeom>
          <a:noFill/>
          <a:ln>
            <a:noFill/>
          </a:ln>
        </p:spPr>
        <p:txBody>
          <a:bodyPr spcFirstLastPara="1" wrap="square" lIns="91425" tIns="91425" rIns="91425" bIns="91425" anchor="t" anchorCtr="0">
            <a:noAutofit/>
          </a:bodyPr>
          <a:lstStyle/>
          <a:p>
            <a:pPr marL="12700" lvl="0" indent="0" algn="l" rtl="0">
              <a:lnSpc>
                <a:spcPct val="150000"/>
              </a:lnSpc>
              <a:spcBef>
                <a:spcPts val="0"/>
              </a:spcBef>
              <a:spcAft>
                <a:spcPts val="0"/>
              </a:spcAft>
              <a:buNone/>
            </a:pPr>
            <a:endParaRPr sz="1800" i="1" dirty="0">
              <a:solidFill>
                <a:schemeClr val="dk1"/>
              </a:solidFill>
              <a:latin typeface="Roboto"/>
              <a:ea typeface="Roboto"/>
              <a:cs typeface="Roboto"/>
              <a:sym typeface="Roboto"/>
            </a:endParaRPr>
          </a:p>
        </p:txBody>
      </p:sp>
      <p:sp>
        <p:nvSpPr>
          <p:cNvPr id="87" name="Google Shape;87;p16"/>
          <p:cNvSpPr txBox="1"/>
          <p:nvPr/>
        </p:nvSpPr>
        <p:spPr>
          <a:xfrm>
            <a:off x="712125" y="130723"/>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dirty="0">
                <a:solidFill>
                  <a:srgbClr val="701C7F"/>
                </a:solidFill>
                <a:latin typeface="Inter"/>
                <a:ea typeface="Inter"/>
                <a:cs typeface="Inter"/>
                <a:sym typeface="Inter"/>
              </a:rPr>
              <a:t>Team and Structure</a:t>
            </a:r>
            <a:endParaRPr sz="400" dirty="0">
              <a:latin typeface="Inter ExtraBold"/>
              <a:ea typeface="Inter ExtraBold"/>
              <a:cs typeface="Inter ExtraBold"/>
              <a:sym typeface="Inter ExtraBold"/>
            </a:endParaRPr>
          </a:p>
        </p:txBody>
      </p:sp>
      <p:pic>
        <p:nvPicPr>
          <p:cNvPr id="25" name="Picture 24">
            <a:extLst>
              <a:ext uri="{FF2B5EF4-FFF2-40B4-BE49-F238E27FC236}">
                <a16:creationId xmlns:a16="http://schemas.microsoft.com/office/drawing/2014/main" id="{F51B0AAB-2B9A-5D3B-B8E8-0155D4D0B0E2}"/>
              </a:ext>
            </a:extLst>
          </p:cNvPr>
          <p:cNvPicPr>
            <a:picLocks noChangeAspect="1"/>
          </p:cNvPicPr>
          <p:nvPr/>
        </p:nvPicPr>
        <p:blipFill>
          <a:blip r:embed="rId4"/>
          <a:stretch>
            <a:fillRect/>
          </a:stretch>
        </p:blipFill>
        <p:spPr>
          <a:xfrm>
            <a:off x="4297158" y="465457"/>
            <a:ext cx="4268777" cy="4291820"/>
          </a:xfrm>
          <a:prstGeom prst="rect">
            <a:avLst/>
          </a:prstGeom>
        </p:spPr>
      </p:pic>
      <p:pic>
        <p:nvPicPr>
          <p:cNvPr id="27" name="Picture 26" descr="Miss You Bee">
            <a:extLst>
              <a:ext uri="{FF2B5EF4-FFF2-40B4-BE49-F238E27FC236}">
                <a16:creationId xmlns:a16="http://schemas.microsoft.com/office/drawing/2014/main" id="{593DC010-6432-4DEA-9428-7F557B9548B5}"/>
              </a:ext>
            </a:extLst>
          </p:cNvPr>
          <p:cNvPicPr>
            <a:picLocks noChangeAspect="1"/>
          </p:cNvPicPr>
          <p:nvPr/>
        </p:nvPicPr>
        <p:blipFill>
          <a:blip r:embed="rId5"/>
          <a:stretch>
            <a:fillRect/>
          </a:stretch>
        </p:blipFill>
        <p:spPr>
          <a:xfrm>
            <a:off x="6305900" y="1619071"/>
            <a:ext cx="311150" cy="311150"/>
          </a:xfrm>
          <a:prstGeom prst="rect">
            <a:avLst/>
          </a:prstGeom>
        </p:spPr>
      </p:pic>
      <p:pic>
        <p:nvPicPr>
          <p:cNvPr id="29" name="Picture 28" descr="Miss You Bee">
            <a:extLst>
              <a:ext uri="{FF2B5EF4-FFF2-40B4-BE49-F238E27FC236}">
                <a16:creationId xmlns:a16="http://schemas.microsoft.com/office/drawing/2014/main" id="{009891F1-F568-9965-FC0F-C80AAD2C7B48}"/>
              </a:ext>
            </a:extLst>
          </p:cNvPr>
          <p:cNvPicPr>
            <a:picLocks noChangeAspect="1"/>
          </p:cNvPicPr>
          <p:nvPr/>
        </p:nvPicPr>
        <p:blipFill>
          <a:blip r:embed="rId5"/>
          <a:stretch>
            <a:fillRect/>
          </a:stretch>
        </p:blipFill>
        <p:spPr>
          <a:xfrm>
            <a:off x="6024256" y="2988524"/>
            <a:ext cx="311150" cy="311150"/>
          </a:xfrm>
          <a:prstGeom prst="rect">
            <a:avLst/>
          </a:prstGeom>
        </p:spPr>
      </p:pic>
      <p:pic>
        <p:nvPicPr>
          <p:cNvPr id="31" name="Picture 30" descr="Miss You Bee">
            <a:extLst>
              <a:ext uri="{FF2B5EF4-FFF2-40B4-BE49-F238E27FC236}">
                <a16:creationId xmlns:a16="http://schemas.microsoft.com/office/drawing/2014/main" id="{D227D664-9EC9-A2AC-7CB2-19150457E016}"/>
              </a:ext>
            </a:extLst>
          </p:cNvPr>
          <p:cNvPicPr>
            <a:picLocks noChangeAspect="1"/>
          </p:cNvPicPr>
          <p:nvPr/>
        </p:nvPicPr>
        <p:blipFill>
          <a:blip r:embed="rId5"/>
          <a:stretch>
            <a:fillRect/>
          </a:stretch>
        </p:blipFill>
        <p:spPr>
          <a:xfrm>
            <a:off x="4392225" y="3765550"/>
            <a:ext cx="311150" cy="311150"/>
          </a:xfrm>
          <a:prstGeom prst="rect">
            <a:avLst/>
          </a:prstGeom>
        </p:spPr>
      </p:pic>
      <p:pic>
        <p:nvPicPr>
          <p:cNvPr id="65" name="Picture 64">
            <a:extLst>
              <a:ext uri="{FF2B5EF4-FFF2-40B4-BE49-F238E27FC236}">
                <a16:creationId xmlns:a16="http://schemas.microsoft.com/office/drawing/2014/main" id="{CF954472-F0F3-29C9-8F3F-AA4F89C4DCC6}"/>
              </a:ext>
            </a:extLst>
          </p:cNvPr>
          <p:cNvPicPr>
            <a:picLocks noChangeAspect="1"/>
          </p:cNvPicPr>
          <p:nvPr/>
        </p:nvPicPr>
        <p:blipFill>
          <a:blip r:embed="rId6"/>
          <a:stretch>
            <a:fillRect/>
          </a:stretch>
        </p:blipFill>
        <p:spPr>
          <a:xfrm>
            <a:off x="4932769" y="208916"/>
            <a:ext cx="731520" cy="715617"/>
          </a:xfrm>
          <a:prstGeom prst="rect">
            <a:avLst/>
          </a:prstGeom>
        </p:spPr>
      </p:pic>
      <p:pic>
        <p:nvPicPr>
          <p:cNvPr id="67" name="Picture 66">
            <a:extLst>
              <a:ext uri="{FF2B5EF4-FFF2-40B4-BE49-F238E27FC236}">
                <a16:creationId xmlns:a16="http://schemas.microsoft.com/office/drawing/2014/main" id="{501D0D11-C842-8671-A3E4-5496AEABDCB5}"/>
              </a:ext>
            </a:extLst>
          </p:cNvPr>
          <p:cNvPicPr>
            <a:picLocks noChangeAspect="1"/>
          </p:cNvPicPr>
          <p:nvPr/>
        </p:nvPicPr>
        <p:blipFill>
          <a:blip r:embed="rId7"/>
          <a:stretch>
            <a:fillRect/>
          </a:stretch>
        </p:blipFill>
        <p:spPr>
          <a:xfrm>
            <a:off x="5773118" y="181270"/>
            <a:ext cx="733753" cy="733753"/>
          </a:xfrm>
          <a:prstGeom prst="rect">
            <a:avLst/>
          </a:prstGeom>
        </p:spPr>
      </p:pic>
      <p:pic>
        <p:nvPicPr>
          <p:cNvPr id="69" name="Picture 68">
            <a:extLst>
              <a:ext uri="{FF2B5EF4-FFF2-40B4-BE49-F238E27FC236}">
                <a16:creationId xmlns:a16="http://schemas.microsoft.com/office/drawing/2014/main" id="{8E9F74AD-AACE-F703-203C-7A10CB2A2A92}"/>
              </a:ext>
            </a:extLst>
          </p:cNvPr>
          <p:cNvPicPr>
            <a:picLocks noChangeAspect="1"/>
          </p:cNvPicPr>
          <p:nvPr/>
        </p:nvPicPr>
        <p:blipFill>
          <a:blip r:embed="rId8"/>
          <a:stretch>
            <a:fillRect/>
          </a:stretch>
        </p:blipFill>
        <p:spPr>
          <a:xfrm>
            <a:off x="4643573" y="3256392"/>
            <a:ext cx="731520" cy="740408"/>
          </a:xfrm>
          <a:prstGeom prst="rect">
            <a:avLst/>
          </a:prstGeom>
        </p:spPr>
      </p:pic>
      <p:pic>
        <p:nvPicPr>
          <p:cNvPr id="71" name="Picture 70">
            <a:extLst>
              <a:ext uri="{FF2B5EF4-FFF2-40B4-BE49-F238E27FC236}">
                <a16:creationId xmlns:a16="http://schemas.microsoft.com/office/drawing/2014/main" id="{881AB195-59B9-7DC9-E88A-6654E3E8D62C}"/>
              </a:ext>
            </a:extLst>
          </p:cNvPr>
          <p:cNvPicPr>
            <a:picLocks noChangeAspect="1"/>
          </p:cNvPicPr>
          <p:nvPr/>
        </p:nvPicPr>
        <p:blipFill>
          <a:blip r:embed="rId9"/>
          <a:stretch>
            <a:fillRect/>
          </a:stretch>
        </p:blipFill>
        <p:spPr>
          <a:xfrm>
            <a:off x="4961114" y="1002724"/>
            <a:ext cx="666929" cy="731520"/>
          </a:xfrm>
          <a:prstGeom prst="rect">
            <a:avLst/>
          </a:prstGeom>
        </p:spPr>
      </p:pic>
      <p:pic>
        <p:nvPicPr>
          <p:cNvPr id="73" name="Picture 72">
            <a:extLst>
              <a:ext uri="{FF2B5EF4-FFF2-40B4-BE49-F238E27FC236}">
                <a16:creationId xmlns:a16="http://schemas.microsoft.com/office/drawing/2014/main" id="{21D9E2C9-0892-E729-4156-E3F49F86A538}"/>
              </a:ext>
            </a:extLst>
          </p:cNvPr>
          <p:cNvPicPr>
            <a:picLocks noChangeAspect="1"/>
          </p:cNvPicPr>
          <p:nvPr/>
        </p:nvPicPr>
        <p:blipFill>
          <a:blip r:embed="rId10"/>
          <a:stretch>
            <a:fillRect/>
          </a:stretch>
        </p:blipFill>
        <p:spPr>
          <a:xfrm rot="5400000">
            <a:off x="6427102" y="2341180"/>
            <a:ext cx="740407" cy="731519"/>
          </a:xfrm>
          <a:prstGeom prst="rect">
            <a:avLst/>
          </a:prstGeom>
        </p:spPr>
      </p:pic>
      <p:pic>
        <p:nvPicPr>
          <p:cNvPr id="75" name="Picture 74">
            <a:extLst>
              <a:ext uri="{FF2B5EF4-FFF2-40B4-BE49-F238E27FC236}">
                <a16:creationId xmlns:a16="http://schemas.microsoft.com/office/drawing/2014/main" id="{8F4FBFFC-D092-95F4-8C5C-A5409ABC4BEE}"/>
              </a:ext>
            </a:extLst>
          </p:cNvPr>
          <p:cNvPicPr>
            <a:picLocks noChangeAspect="1"/>
          </p:cNvPicPr>
          <p:nvPr/>
        </p:nvPicPr>
        <p:blipFill>
          <a:blip r:embed="rId11"/>
          <a:stretch>
            <a:fillRect/>
          </a:stretch>
        </p:blipFill>
        <p:spPr>
          <a:xfrm>
            <a:off x="6453028" y="3161935"/>
            <a:ext cx="731520" cy="740408"/>
          </a:xfrm>
          <a:prstGeom prst="rect">
            <a:avLst/>
          </a:prstGeom>
        </p:spPr>
      </p:pic>
      <p:pic>
        <p:nvPicPr>
          <p:cNvPr id="77" name="Picture 76">
            <a:extLst>
              <a:ext uri="{FF2B5EF4-FFF2-40B4-BE49-F238E27FC236}">
                <a16:creationId xmlns:a16="http://schemas.microsoft.com/office/drawing/2014/main" id="{0E48BB40-DB1F-A835-8893-2D2314F8F848}"/>
              </a:ext>
            </a:extLst>
          </p:cNvPr>
          <p:cNvPicPr>
            <a:picLocks noChangeAspect="1"/>
          </p:cNvPicPr>
          <p:nvPr/>
        </p:nvPicPr>
        <p:blipFill>
          <a:blip r:embed="rId12"/>
          <a:stretch>
            <a:fillRect/>
          </a:stretch>
        </p:blipFill>
        <p:spPr>
          <a:xfrm>
            <a:off x="6615700" y="181269"/>
            <a:ext cx="731520" cy="733753"/>
          </a:xfrm>
          <a:prstGeom prst="rect">
            <a:avLst/>
          </a:prstGeom>
        </p:spPr>
      </p:pic>
      <p:graphicFrame>
        <p:nvGraphicFramePr>
          <p:cNvPr id="78" name="Table 77">
            <a:extLst>
              <a:ext uri="{FF2B5EF4-FFF2-40B4-BE49-F238E27FC236}">
                <a16:creationId xmlns:a16="http://schemas.microsoft.com/office/drawing/2014/main" id="{69D485C3-FF4C-0970-D4F3-2F1638100A59}"/>
              </a:ext>
            </a:extLst>
          </p:cNvPr>
          <p:cNvGraphicFramePr>
            <a:graphicFrameLocks noGrp="1"/>
          </p:cNvGraphicFramePr>
          <p:nvPr>
            <p:extLst>
              <p:ext uri="{D42A27DB-BD31-4B8C-83A1-F6EECF244321}">
                <p14:modId xmlns:p14="http://schemas.microsoft.com/office/powerpoint/2010/main" val="4000638717"/>
              </p:ext>
            </p:extLst>
          </p:nvPr>
        </p:nvGraphicFramePr>
        <p:xfrm>
          <a:off x="256541" y="1288271"/>
          <a:ext cx="3885500" cy="2566958"/>
        </p:xfrm>
        <a:graphic>
          <a:graphicData uri="http://schemas.openxmlformats.org/drawingml/2006/table">
            <a:tbl>
              <a:tblPr firstRow="1" bandRow="1">
                <a:tableStyleId>{5C22544A-7EE6-4342-B048-85BDC9FD1C3A}</a:tableStyleId>
              </a:tblPr>
              <a:tblGrid>
                <a:gridCol w="1942750">
                  <a:extLst>
                    <a:ext uri="{9D8B030D-6E8A-4147-A177-3AD203B41FA5}">
                      <a16:colId xmlns:a16="http://schemas.microsoft.com/office/drawing/2014/main" val="3623199384"/>
                    </a:ext>
                  </a:extLst>
                </a:gridCol>
                <a:gridCol w="1942750">
                  <a:extLst>
                    <a:ext uri="{9D8B030D-6E8A-4147-A177-3AD203B41FA5}">
                      <a16:colId xmlns:a16="http://schemas.microsoft.com/office/drawing/2014/main" val="251876339"/>
                    </a:ext>
                  </a:extLst>
                </a:gridCol>
              </a:tblGrid>
              <a:tr h="266254">
                <a:tc>
                  <a:txBody>
                    <a:bodyPr/>
                    <a:lstStyle/>
                    <a:p>
                      <a:r>
                        <a:rPr lang="sv-SE" dirty="0"/>
                        <a:t>Team</a:t>
                      </a:r>
                      <a:endParaRPr lang="en-US" dirty="0"/>
                    </a:p>
                  </a:txBody>
                  <a:tcPr/>
                </a:tc>
                <a:tc>
                  <a:txBody>
                    <a:bodyPr/>
                    <a:lstStyle/>
                    <a:p>
                      <a:r>
                        <a:rPr lang="sv-SE" dirty="0" err="1"/>
                        <a:t>Contribution</a:t>
                      </a:r>
                      <a:endParaRPr lang="en-US" dirty="0"/>
                    </a:p>
                  </a:txBody>
                  <a:tcPr/>
                </a:tc>
                <a:extLst>
                  <a:ext uri="{0D108BD9-81ED-4DB2-BD59-A6C34878D82A}">
                    <a16:rowId xmlns:a16="http://schemas.microsoft.com/office/drawing/2014/main" val="86187102"/>
                  </a:ext>
                </a:extLst>
              </a:tr>
              <a:tr h="2928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spc="0" dirty="0" err="1">
                          <a:solidFill>
                            <a:schemeClr val="dk1"/>
                          </a:solidFill>
                          <a:latin typeface="+mn-lt"/>
                          <a:ea typeface="+mn-ea"/>
                          <a:cs typeface="+mn-cs"/>
                          <a:sym typeface="Arial"/>
                        </a:rPr>
                        <a:t>Marufa</a:t>
                      </a:r>
                      <a:r>
                        <a:rPr lang="en-US" sz="800" b="0" i="0" u="none" strike="noStrike" cap="none" spc="0" dirty="0">
                          <a:solidFill>
                            <a:schemeClr val="dk1"/>
                          </a:solidFill>
                          <a:latin typeface="+mn-lt"/>
                          <a:ea typeface="+mn-ea"/>
                          <a:cs typeface="+mn-cs"/>
                          <a:sym typeface="Arial"/>
                        </a:rPr>
                        <a:t> Binte Mostafa</a:t>
                      </a:r>
                    </a:p>
                  </a:txBody>
                  <a:tcPr/>
                </a:tc>
                <a:tc>
                  <a:txBody>
                    <a:bodyPr/>
                    <a:lstStyle/>
                    <a:p>
                      <a:r>
                        <a:rPr lang="sv-SE" sz="800" b="0" dirty="0" err="1"/>
                        <a:t>Developer</a:t>
                      </a:r>
                      <a:endParaRPr lang="en-US" sz="800" b="0" dirty="0"/>
                    </a:p>
                  </a:txBody>
                  <a:tcPr/>
                </a:tc>
                <a:extLst>
                  <a:ext uri="{0D108BD9-81ED-4DB2-BD59-A6C34878D82A}">
                    <a16:rowId xmlns:a16="http://schemas.microsoft.com/office/drawing/2014/main" val="2187148001"/>
                  </a:ext>
                </a:extLst>
              </a:tr>
              <a:tr h="18637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spc="0" dirty="0">
                          <a:solidFill>
                            <a:schemeClr val="dk1"/>
                          </a:solidFill>
                          <a:latin typeface="+mn-lt"/>
                          <a:ea typeface="+mn-ea"/>
                          <a:cs typeface="+mn-cs"/>
                          <a:sym typeface="Arial"/>
                        </a:rPr>
                        <a:t>Isabella Lanes Rocha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sv-SE" sz="800" b="0" dirty="0" err="1"/>
                        <a:t>Developer</a:t>
                      </a:r>
                      <a:endParaRPr lang="en-US" sz="800" b="0" dirty="0"/>
                    </a:p>
                    <a:p>
                      <a:endParaRPr lang="en-US" sz="800" b="0" dirty="0"/>
                    </a:p>
                  </a:txBody>
                  <a:tcPr/>
                </a:tc>
                <a:extLst>
                  <a:ext uri="{0D108BD9-81ED-4DB2-BD59-A6C34878D82A}">
                    <a16:rowId xmlns:a16="http://schemas.microsoft.com/office/drawing/2014/main" val="4083107056"/>
                  </a:ext>
                </a:extLst>
              </a:tr>
              <a:tr h="18637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spc="0" dirty="0">
                          <a:solidFill>
                            <a:schemeClr val="dk1"/>
                          </a:solidFill>
                          <a:latin typeface="+mn-lt"/>
                          <a:ea typeface="+mn-ea"/>
                          <a:cs typeface="+mn-cs"/>
                          <a:sym typeface="Arial"/>
                        </a:rPr>
                        <a:t>Helge Gudmundsen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sv-SE" sz="800" b="0" dirty="0" err="1"/>
                        <a:t>Developer</a:t>
                      </a:r>
                      <a:endParaRPr lang="en-US" sz="800" b="0" dirty="0"/>
                    </a:p>
                    <a:p>
                      <a:endParaRPr lang="en-US" sz="800" b="0" dirty="0"/>
                    </a:p>
                  </a:txBody>
                  <a:tcPr/>
                </a:tc>
                <a:extLst>
                  <a:ext uri="{0D108BD9-81ED-4DB2-BD59-A6C34878D82A}">
                    <a16:rowId xmlns:a16="http://schemas.microsoft.com/office/drawing/2014/main" val="1126994293"/>
                  </a:ext>
                </a:extLst>
              </a:tr>
              <a:tr h="2928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spc="0" dirty="0">
                          <a:solidFill>
                            <a:schemeClr val="dk1"/>
                          </a:solidFill>
                          <a:latin typeface="+mn-lt"/>
                          <a:ea typeface="+mn-ea"/>
                          <a:cs typeface="+mn-cs"/>
                          <a:sym typeface="Arial"/>
                        </a:rPr>
                        <a:t>Kavyasree Sankaranarayanan Nair</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sv-SE" sz="800" b="0" dirty="0" err="1"/>
                        <a:t>Developer</a:t>
                      </a:r>
                      <a:endParaRPr lang="en-US" sz="800" b="0" dirty="0"/>
                    </a:p>
                    <a:p>
                      <a:endParaRPr lang="en-US" sz="800" b="0" dirty="0"/>
                    </a:p>
                  </a:txBody>
                  <a:tcPr/>
                </a:tc>
                <a:extLst>
                  <a:ext uri="{0D108BD9-81ED-4DB2-BD59-A6C34878D82A}">
                    <a16:rowId xmlns:a16="http://schemas.microsoft.com/office/drawing/2014/main" val="1794648163"/>
                  </a:ext>
                </a:extLst>
              </a:tr>
              <a:tr h="18637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spc="0" dirty="0">
                          <a:solidFill>
                            <a:schemeClr val="dk1"/>
                          </a:solidFill>
                          <a:latin typeface="+mn-lt"/>
                          <a:ea typeface="+mn-ea"/>
                          <a:cs typeface="+mn-cs"/>
                          <a:sym typeface="Arial"/>
                        </a:rPr>
                        <a:t>Matheus </a:t>
                      </a:r>
                      <a:r>
                        <a:rPr lang="en-US" sz="800" b="0" i="0" u="none" strike="noStrike" cap="none" spc="0" dirty="0" err="1">
                          <a:solidFill>
                            <a:schemeClr val="dk1"/>
                          </a:solidFill>
                          <a:latin typeface="+mn-lt"/>
                          <a:ea typeface="+mn-ea"/>
                          <a:cs typeface="+mn-cs"/>
                          <a:sym typeface="Arial"/>
                        </a:rPr>
                        <a:t>Abrahao</a:t>
                      </a:r>
                      <a:endParaRPr lang="en-US" sz="800" b="0" i="0" u="none" strike="noStrike" cap="none" spc="0" dirty="0">
                        <a:solidFill>
                          <a:schemeClr val="dk1"/>
                        </a:solidFill>
                        <a:latin typeface="+mn-lt"/>
                        <a:ea typeface="+mn-ea"/>
                        <a:cs typeface="+mn-cs"/>
                        <a:sym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sv-SE" sz="800" b="0" dirty="0" err="1"/>
                        <a:t>Developer</a:t>
                      </a:r>
                      <a:endParaRPr lang="en-US" sz="800" b="0" dirty="0"/>
                    </a:p>
                    <a:p>
                      <a:endParaRPr lang="en-US" sz="800" b="0" dirty="0"/>
                    </a:p>
                  </a:txBody>
                  <a:tcPr/>
                </a:tc>
                <a:extLst>
                  <a:ext uri="{0D108BD9-81ED-4DB2-BD59-A6C34878D82A}">
                    <a16:rowId xmlns:a16="http://schemas.microsoft.com/office/drawing/2014/main" val="3866567140"/>
                  </a:ext>
                </a:extLst>
              </a:tr>
              <a:tr h="186378">
                <a:tc>
                  <a:txBody>
                    <a:bodyPr/>
                    <a:lstStyle/>
                    <a:p>
                      <a:r>
                        <a:rPr lang="sv-SE" sz="800" b="0" dirty="0"/>
                        <a:t>Priyankkumar Bidya</a:t>
                      </a:r>
                      <a:endParaRPr lang="en-US" sz="800" b="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sv-SE" sz="800" b="0" dirty="0" err="1"/>
                        <a:t>Developer</a:t>
                      </a:r>
                      <a:endParaRPr lang="en-US" sz="800" b="0" dirty="0"/>
                    </a:p>
                    <a:p>
                      <a:endParaRPr lang="en-US" sz="800" b="0" dirty="0"/>
                    </a:p>
                  </a:txBody>
                  <a:tcPr/>
                </a:tc>
                <a:extLst>
                  <a:ext uri="{0D108BD9-81ED-4DB2-BD59-A6C34878D82A}">
                    <a16:rowId xmlns:a16="http://schemas.microsoft.com/office/drawing/2014/main" val="3118092650"/>
                  </a:ext>
                </a:extLst>
              </a:tr>
              <a:tr h="2928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i="0" u="none" strike="noStrike" cap="none" spc="0" dirty="0">
                          <a:solidFill>
                            <a:schemeClr val="dk1"/>
                          </a:solidFill>
                          <a:latin typeface="+mn-lt"/>
                          <a:ea typeface="+mn-ea"/>
                          <a:cs typeface="+mn-cs"/>
                          <a:sym typeface="Arial"/>
                        </a:rPr>
                        <a:t>Himank </a:t>
                      </a:r>
                      <a:r>
                        <a:rPr lang="en-US" sz="800" b="0" i="0" u="none" strike="noStrike" cap="none" spc="0" dirty="0" err="1">
                          <a:solidFill>
                            <a:schemeClr val="dk1"/>
                          </a:solidFill>
                          <a:latin typeface="+mn-lt"/>
                          <a:ea typeface="+mn-ea"/>
                          <a:cs typeface="+mn-cs"/>
                          <a:sym typeface="Arial"/>
                        </a:rPr>
                        <a:t>Meattle</a:t>
                      </a:r>
                      <a:endParaRPr lang="en-US" sz="800" b="0" i="0" u="none" strike="noStrike" cap="none" spc="0" dirty="0">
                        <a:solidFill>
                          <a:schemeClr val="dk1"/>
                        </a:solidFill>
                        <a:latin typeface="+mn-lt"/>
                        <a:ea typeface="+mn-ea"/>
                        <a:cs typeface="+mn-cs"/>
                        <a:sym typeface="Arial"/>
                      </a:endParaRPr>
                    </a:p>
                  </a:txBody>
                  <a:tcPr/>
                </a:tc>
                <a:tc>
                  <a:txBody>
                    <a:bodyPr/>
                    <a:lstStyle/>
                    <a:p>
                      <a:r>
                        <a:rPr lang="sv-SE" sz="800" b="0" dirty="0"/>
                        <a:t>Team Support</a:t>
                      </a:r>
                      <a:endParaRPr lang="en-US" sz="800" b="0" dirty="0"/>
                    </a:p>
                  </a:txBody>
                  <a:tcPr/>
                </a:tc>
                <a:extLst>
                  <a:ext uri="{0D108BD9-81ED-4DB2-BD59-A6C34878D82A}">
                    <a16:rowId xmlns:a16="http://schemas.microsoft.com/office/drawing/2014/main" val="410433184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78" name="Google Shape;78;p15"/>
          <p:cNvSpPr txBox="1"/>
          <p:nvPr/>
        </p:nvSpPr>
        <p:spPr>
          <a:xfrm>
            <a:off x="712125" y="1093450"/>
            <a:ext cx="7360200" cy="3610577"/>
          </a:xfrm>
          <a:prstGeom prst="rect">
            <a:avLst/>
          </a:prstGeom>
          <a:noFill/>
          <a:ln>
            <a:noFill/>
          </a:ln>
        </p:spPr>
        <p:txBody>
          <a:bodyPr spcFirstLastPara="1" wrap="square" lIns="91425" tIns="91425" rIns="91425" bIns="91425" anchor="t" anchorCtr="0">
            <a:noAutofit/>
          </a:bodyPr>
          <a:lstStyle/>
          <a:p>
            <a:pPr marL="12700" lvl="0">
              <a:buClr>
                <a:schemeClr val="dk1"/>
              </a:buClr>
              <a:buSzPts val="1100"/>
            </a:pPr>
            <a:r>
              <a:rPr lang="en" sz="1200" b="1" i="1" dirty="0">
                <a:solidFill>
                  <a:schemeClr val="dk1"/>
                </a:solidFill>
                <a:latin typeface="Roboto"/>
                <a:ea typeface="Roboto"/>
                <a:cs typeface="Roboto"/>
                <a:sym typeface="Roboto"/>
              </a:rPr>
              <a:t>Initial Situation : </a:t>
            </a:r>
          </a:p>
          <a:p>
            <a:pPr marL="12700" lvl="0">
              <a:buClr>
                <a:schemeClr val="dk1"/>
              </a:buClr>
              <a:buSzPts val="1100"/>
            </a:pPr>
            <a:r>
              <a:rPr lang="en-US" sz="1000" dirty="0"/>
              <a:t>Eclipse </a:t>
            </a:r>
            <a:r>
              <a:rPr lang="en-US" sz="1000" dirty="0" err="1"/>
              <a:t>OpenSOVD</a:t>
            </a:r>
            <a:r>
              <a:rPr lang="en-US" sz="1000" dirty="0"/>
              <a:t> advertises the logs capability in its resource description, as defined by ISO 17978, </a:t>
            </a:r>
            <a:r>
              <a:rPr lang="en-US" sz="1000" b="1" dirty="0"/>
              <a:t>but it does not contain an implementation</a:t>
            </a:r>
            <a:r>
              <a:rPr lang="en-US" sz="1000" dirty="0"/>
              <a:t>. Today there is </a:t>
            </a:r>
            <a:r>
              <a:rPr lang="en-US" sz="1000" b="1" dirty="0"/>
              <a:t>no unified way to collect </a:t>
            </a:r>
            <a:r>
              <a:rPr lang="en-US" sz="1000" dirty="0"/>
              <a:t>and inspect logs across the vehicle network through SOVD. When an ECU reports a fault, the diagnostics engineer has no standardized interface to pull logs — which makes root-cause analysis slow and fragmented</a:t>
            </a:r>
            <a:r>
              <a:rPr lang="en-US" dirty="0"/>
              <a:t>.</a:t>
            </a:r>
            <a:endParaRPr sz="1800" i="1" dirty="0">
              <a:solidFill>
                <a:schemeClr val="dk1"/>
              </a:solidFill>
              <a:latin typeface="Roboto"/>
              <a:ea typeface="Roboto"/>
              <a:cs typeface="Roboto"/>
              <a:sym typeface="Roboto"/>
            </a:endParaRPr>
          </a:p>
          <a:p>
            <a:pPr marL="12700" lvl="0" indent="0" algn="l" rtl="0">
              <a:spcBef>
                <a:spcPts val="0"/>
              </a:spcBef>
              <a:spcAft>
                <a:spcPts val="0"/>
              </a:spcAft>
              <a:buClr>
                <a:schemeClr val="dk1"/>
              </a:buClr>
              <a:buSzPts val="1100"/>
              <a:buFont typeface="Arial"/>
              <a:buNone/>
            </a:pPr>
            <a:endParaRPr sz="1800" i="1" dirty="0">
              <a:solidFill>
                <a:schemeClr val="dk1"/>
              </a:solidFill>
              <a:latin typeface="Roboto"/>
              <a:ea typeface="Roboto"/>
              <a:cs typeface="Roboto"/>
              <a:sym typeface="Roboto"/>
            </a:endParaRPr>
          </a:p>
          <a:p>
            <a:pPr marL="12700" lvl="0">
              <a:buClr>
                <a:schemeClr val="dk1"/>
              </a:buClr>
              <a:buSzPts val="1100"/>
            </a:pPr>
            <a:r>
              <a:rPr lang="en" sz="1200" b="1" i="1" dirty="0">
                <a:solidFill>
                  <a:schemeClr val="dk1"/>
                </a:solidFill>
                <a:latin typeface="Roboto"/>
                <a:ea typeface="Roboto"/>
                <a:cs typeface="Roboto"/>
                <a:sym typeface="Roboto"/>
              </a:rPr>
              <a:t>Solution : </a:t>
            </a:r>
            <a:r>
              <a:rPr lang="en-US" sz="1000" dirty="0" err="1"/>
              <a:t>TRAceON</a:t>
            </a:r>
            <a:r>
              <a:rPr lang="en-US" sz="1000" dirty="0"/>
              <a:t> </a:t>
            </a:r>
            <a:r>
              <a:rPr lang="en-US" sz="1000" b="1" dirty="0"/>
              <a:t>implements the SOVD logs resource on top of </a:t>
            </a:r>
            <a:r>
              <a:rPr lang="en-US" sz="1000" b="1" dirty="0" err="1"/>
              <a:t>OpenSOVD</a:t>
            </a:r>
            <a:r>
              <a:rPr lang="en-US" sz="1000" dirty="0"/>
              <a:t>, and beyond that, it brings the developer closer to the logs generated by the vehicle regardless of their physical proximity to it. An engineer makes a single SOVD call (GET /</a:t>
            </a:r>
            <a:r>
              <a:rPr lang="en-US" sz="1000" dirty="0" err="1"/>
              <a:t>sovd</a:t>
            </a:r>
            <a:r>
              <a:rPr lang="en-US" sz="1000" dirty="0"/>
              <a:t>/v1/apps/{app}/logs/entries) and receives logs from the vehicle's many components — </a:t>
            </a:r>
            <a:r>
              <a:rPr lang="en-US" sz="1000" b="1" dirty="0"/>
              <a:t>they can filter the logs on demand, configure the log request, and opt into a live SSE stream when available</a:t>
            </a:r>
          </a:p>
          <a:p>
            <a:pPr marL="12700" lvl="0">
              <a:buClr>
                <a:schemeClr val="dk1"/>
              </a:buClr>
              <a:buSzPts val="1100"/>
            </a:pPr>
            <a:endParaRPr sz="1000" b="1" i="1" dirty="0">
              <a:solidFill>
                <a:schemeClr val="dk1"/>
              </a:solidFill>
              <a:latin typeface="Roboto"/>
              <a:ea typeface="Roboto"/>
              <a:cs typeface="Roboto"/>
              <a:sym typeface="Roboto"/>
            </a:endParaRPr>
          </a:p>
          <a:p>
            <a:pPr marL="12700" lvl="0">
              <a:buClr>
                <a:schemeClr val="dk1"/>
              </a:buClr>
            </a:pPr>
            <a:r>
              <a:rPr lang="en" sz="1200" b="1" i="1" dirty="0">
                <a:solidFill>
                  <a:schemeClr val="dk1"/>
                </a:solidFill>
                <a:latin typeface="Roboto"/>
                <a:ea typeface="Roboto"/>
                <a:cs typeface="Roboto"/>
                <a:sym typeface="Roboto"/>
              </a:rPr>
              <a:t>Idea : </a:t>
            </a:r>
            <a:r>
              <a:rPr lang="en-US" sz="1000" dirty="0"/>
              <a:t>Fill the real gap in </a:t>
            </a:r>
            <a:r>
              <a:rPr lang="en-US" sz="1000" dirty="0" err="1"/>
              <a:t>OpenSOVD</a:t>
            </a:r>
            <a:r>
              <a:rPr lang="en-US" sz="1000" dirty="0"/>
              <a:t>: deliver the provider trait, the data models and the REST routes for the SOVD logs resource (RFC 5424 and AUTOSAR DLT contexts), and prove the concept end to end with real transport to the ECU</a:t>
            </a:r>
          </a:p>
          <a:p>
            <a:pPr lvl="0"/>
            <a:br>
              <a:rPr lang="en" sz="1800" i="1" dirty="0">
                <a:solidFill>
                  <a:schemeClr val="dk1"/>
                </a:solidFill>
                <a:latin typeface="Roboto"/>
                <a:ea typeface="Roboto"/>
                <a:cs typeface="Roboto"/>
                <a:sym typeface="Roboto"/>
              </a:rPr>
            </a:br>
            <a:r>
              <a:rPr lang="en" sz="1200" b="1" i="1" dirty="0">
                <a:solidFill>
                  <a:schemeClr val="dk1"/>
                </a:solidFill>
                <a:latin typeface="Roboto"/>
                <a:ea typeface="Roboto"/>
                <a:cs typeface="Roboto"/>
                <a:sym typeface="Roboto"/>
              </a:rPr>
              <a:t>Plan : </a:t>
            </a:r>
          </a:p>
          <a:p>
            <a:pPr marL="228600" lvl="0" indent="-228600">
              <a:buFont typeface="+mj-lt"/>
              <a:buAutoNum type="arabicPeriod"/>
            </a:pPr>
            <a:r>
              <a:rPr lang="en-US" sz="1000" dirty="0"/>
              <a:t>Fork </a:t>
            </a:r>
            <a:r>
              <a:rPr lang="en-US" sz="1000" dirty="0" err="1"/>
              <a:t>opensovd</a:t>
            </a:r>
            <a:r>
              <a:rPr lang="en-US" sz="1000" dirty="0"/>
              <a:t>-core and implement the </a:t>
            </a:r>
            <a:r>
              <a:rPr lang="en-US" sz="1000" dirty="0" err="1"/>
              <a:t>LogProvider</a:t>
            </a:r>
            <a:r>
              <a:rPr lang="en-US" sz="1000" dirty="0"/>
              <a:t> trait + models + REST routes (entries, config with GET/PUT/DELETE).</a:t>
            </a:r>
          </a:p>
          <a:p>
            <a:pPr marL="228600" lvl="0" indent="-228600">
              <a:buFont typeface="+mj-lt"/>
              <a:buAutoNum type="arabicPeriod"/>
            </a:pPr>
            <a:r>
              <a:rPr lang="en-US" sz="1000" dirty="0"/>
              <a:t>Add a live stream (SSE) over a broadcast channel.</a:t>
            </a:r>
          </a:p>
          <a:p>
            <a:pPr marL="228600" lvl="0" indent="-228600">
              <a:buFont typeface="+mj-lt"/>
              <a:buAutoNum type="arabicPeriod"/>
            </a:pPr>
            <a:r>
              <a:rPr lang="en-US" sz="1000" dirty="0"/>
              <a:t>Connect to a real ECU through two ingestion paths: </a:t>
            </a:r>
            <a:r>
              <a:rPr lang="en-US" sz="1000" dirty="0" err="1"/>
              <a:t>uProtocol</a:t>
            </a:r>
            <a:r>
              <a:rPr lang="en-US" sz="1000" dirty="0"/>
              <a:t>/</a:t>
            </a:r>
            <a:r>
              <a:rPr lang="en-US" sz="1000" dirty="0" err="1"/>
              <a:t>Zenoh</a:t>
            </a:r>
            <a:r>
              <a:rPr lang="en-US" sz="1000" dirty="0"/>
              <a:t> (RPC) and </a:t>
            </a:r>
            <a:r>
              <a:rPr lang="en-US" sz="1000" dirty="0" err="1"/>
              <a:t>ThreadX</a:t>
            </a:r>
            <a:r>
              <a:rPr lang="en-US" sz="1000" dirty="0"/>
              <a:t>/MQTT (hardware).</a:t>
            </a:r>
          </a:p>
          <a:p>
            <a:pPr marL="228600" lvl="0" indent="-228600">
              <a:buFont typeface="+mj-lt"/>
              <a:buAutoNum type="arabicPeriod"/>
            </a:pPr>
            <a:r>
              <a:rPr lang="en-US" sz="1000" dirty="0"/>
              <a:t>Run as separate processes (HPC + ECU) to prove the distributed architecture.</a:t>
            </a:r>
          </a:p>
          <a:p>
            <a:pPr marL="228600" lvl="0" indent="-228600">
              <a:buFont typeface="+mj-lt"/>
              <a:buAutoNum type="arabicPeriod"/>
            </a:pPr>
            <a:r>
              <a:rPr lang="en-US" sz="1000" dirty="0"/>
              <a:t>Contribute back to </a:t>
            </a:r>
            <a:r>
              <a:rPr lang="en-US" sz="1000" dirty="0" err="1"/>
              <a:t>OpenSOVD</a:t>
            </a:r>
            <a:r>
              <a:rPr lang="en-US" sz="1000" dirty="0"/>
              <a:t> once mature</a:t>
            </a:r>
          </a:p>
          <a:p>
            <a:pPr marL="12700" lvl="0">
              <a:buClr>
                <a:schemeClr val="dk1"/>
              </a:buClr>
            </a:pPr>
            <a:endParaRPr sz="1200" dirty="0"/>
          </a:p>
        </p:txBody>
      </p:sp>
      <p:sp>
        <p:nvSpPr>
          <p:cNvPr id="79" name="Google Shape;79;p15"/>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Plan</a:t>
            </a:r>
            <a:endParaRPr sz="400">
              <a:latin typeface="Inter ExtraBold"/>
              <a:ea typeface="Inter ExtraBold"/>
              <a:cs typeface="Inter ExtraBold"/>
              <a:sym typeface="Inter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74695858-3FC7-6007-DA0C-B8C89EA57BC6}"/>
            </a:ext>
          </a:extLst>
        </p:cNvPr>
        <p:cNvGrpSpPr/>
        <p:nvPr/>
      </p:nvGrpSpPr>
      <p:grpSpPr>
        <a:xfrm>
          <a:off x="0" y="0"/>
          <a:ext cx="0" cy="0"/>
          <a:chOff x="0" y="0"/>
          <a:chExt cx="0" cy="0"/>
        </a:xfrm>
      </p:grpSpPr>
      <p:sp>
        <p:nvSpPr>
          <p:cNvPr id="76" name="Google Shape;76;p15">
            <a:extLst>
              <a:ext uri="{FF2B5EF4-FFF2-40B4-BE49-F238E27FC236}">
                <a16:creationId xmlns:a16="http://schemas.microsoft.com/office/drawing/2014/main" id="{688937EB-4273-EC6B-73B9-8BA0B437A16D}"/>
              </a:ext>
            </a:extLst>
          </p:cNvPr>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a:extLst>
              <a:ext uri="{FF2B5EF4-FFF2-40B4-BE49-F238E27FC236}">
                <a16:creationId xmlns:a16="http://schemas.microsoft.com/office/drawing/2014/main" id="{38F756AE-BB70-98C5-72FA-F251B2F64B17}"/>
              </a:ext>
            </a:extLst>
          </p:cNvPr>
          <p:cNvPicPr preferRelativeResize="0"/>
          <p:nvPr/>
        </p:nvPicPr>
        <p:blipFill>
          <a:blip r:embed="rId3">
            <a:alphaModFix/>
          </a:blip>
          <a:stretch>
            <a:fillRect/>
          </a:stretch>
        </p:blipFill>
        <p:spPr>
          <a:xfrm>
            <a:off x="225475" y="4757277"/>
            <a:ext cx="684027" cy="255500"/>
          </a:xfrm>
          <a:prstGeom prst="rect">
            <a:avLst/>
          </a:prstGeom>
          <a:noFill/>
          <a:ln>
            <a:noFill/>
          </a:ln>
        </p:spPr>
      </p:pic>
      <p:pic>
        <p:nvPicPr>
          <p:cNvPr id="3" name="Picture 2">
            <a:extLst>
              <a:ext uri="{FF2B5EF4-FFF2-40B4-BE49-F238E27FC236}">
                <a16:creationId xmlns:a16="http://schemas.microsoft.com/office/drawing/2014/main" id="{E0A01BD0-29C2-7BD7-6C84-A27152359AAE}"/>
              </a:ext>
            </a:extLst>
          </p:cNvPr>
          <p:cNvPicPr>
            <a:picLocks noChangeAspect="1"/>
          </p:cNvPicPr>
          <p:nvPr/>
        </p:nvPicPr>
        <p:blipFill>
          <a:blip r:embed="rId4"/>
          <a:stretch>
            <a:fillRect/>
          </a:stretch>
        </p:blipFill>
        <p:spPr>
          <a:xfrm>
            <a:off x="567488" y="192717"/>
            <a:ext cx="7950274" cy="4474407"/>
          </a:xfrm>
          <a:prstGeom prst="rect">
            <a:avLst/>
          </a:prstGeom>
        </p:spPr>
      </p:pic>
    </p:spTree>
    <p:extLst>
      <p:ext uri="{BB962C8B-B14F-4D97-AF65-F5344CB8AC3E}">
        <p14:creationId xmlns:p14="http://schemas.microsoft.com/office/powerpoint/2010/main" val="705472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93" name="Google Shape;93;p17"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94" name="Google Shape;94;p17"/>
          <p:cNvSpPr txBox="1"/>
          <p:nvPr/>
        </p:nvSpPr>
        <p:spPr>
          <a:xfrm>
            <a:off x="712125" y="1146700"/>
            <a:ext cx="5476174" cy="3489694"/>
          </a:xfrm>
          <a:prstGeom prst="rect">
            <a:avLst/>
          </a:prstGeom>
          <a:noFill/>
          <a:ln>
            <a:noFill/>
          </a:ln>
        </p:spPr>
        <p:txBody>
          <a:bodyPr spcFirstLastPara="1" wrap="square" lIns="91425" tIns="91425" rIns="91425" bIns="91425" anchor="t" anchorCtr="0">
            <a:noAutofit/>
          </a:bodyPr>
          <a:lstStyle/>
          <a:p>
            <a:r>
              <a:rPr lang="en-US" sz="1000" b="1" dirty="0"/>
              <a:t>What </a:t>
            </a:r>
            <a:r>
              <a:rPr lang="en-US" sz="1000" b="1" dirty="0" err="1"/>
              <a:t>TRAceON</a:t>
            </a:r>
            <a:r>
              <a:rPr lang="en-US" sz="1000" b="1" dirty="0"/>
              <a:t> is</a:t>
            </a:r>
            <a:r>
              <a:rPr lang="en-US" sz="1000" dirty="0"/>
              <a:t> An implementation of the SOVD logging resource (ISO 17978-3:2026, §7.21) for Eclipse </a:t>
            </a:r>
            <a:r>
              <a:rPr lang="en-US" sz="1000" dirty="0" err="1"/>
              <a:t>OpenSOVD</a:t>
            </a:r>
            <a:r>
              <a:rPr lang="en-US" sz="1000" dirty="0"/>
              <a:t>. It delivers a single, standardized access point for diagnostic logs across the whole vehicle.</a:t>
            </a:r>
          </a:p>
          <a:p>
            <a:r>
              <a:rPr lang="en-US" sz="1000" dirty="0"/>
              <a:t>What is already implemented:</a:t>
            </a:r>
          </a:p>
          <a:p>
            <a:pPr marL="171450" lvl="0" indent="-171450">
              <a:buFont typeface="Arial" panose="020B0604020202020204" pitchFamily="34" charset="0"/>
              <a:buChar char="•"/>
            </a:pPr>
            <a:r>
              <a:rPr lang="en-US" sz="1000" b="1" dirty="0"/>
              <a:t>SOVD logs REST API</a:t>
            </a:r>
            <a:r>
              <a:rPr lang="en-US" sz="1000" dirty="0"/>
              <a:t> — GET /entries, GET /config, PUT /config, DELETE /config under /</a:t>
            </a:r>
            <a:r>
              <a:rPr lang="en-US" sz="1000" dirty="0" err="1"/>
              <a:t>sovd</a:t>
            </a:r>
            <a:r>
              <a:rPr lang="en-US" sz="1000" dirty="0"/>
              <a:t>/v1/apps/{app-id}/logs/.</a:t>
            </a:r>
          </a:p>
          <a:p>
            <a:pPr marL="171450" lvl="0" indent="-171450">
              <a:buFont typeface="Arial" panose="020B0604020202020204" pitchFamily="34" charset="0"/>
              <a:buChar char="•"/>
            </a:pPr>
            <a:r>
              <a:rPr lang="en-US" sz="1000" b="1" dirty="0"/>
              <a:t>Live stream (SSE)</a:t>
            </a:r>
            <a:r>
              <a:rPr lang="en-US" sz="1000" dirty="0"/>
              <a:t> — GET /entries/stream pushes new entries in real time via a </a:t>
            </a:r>
            <a:r>
              <a:rPr lang="en-US" sz="1000" dirty="0" err="1"/>
              <a:t>tokio</a:t>
            </a:r>
            <a:r>
              <a:rPr lang="en-US" sz="1000" dirty="0"/>
              <a:t>::broadcast channel.</a:t>
            </a:r>
          </a:p>
          <a:p>
            <a:pPr marL="171450" lvl="0" indent="-171450">
              <a:buFont typeface="Arial" panose="020B0604020202020204" pitchFamily="34" charset="0"/>
              <a:buChar char="•"/>
            </a:pPr>
            <a:r>
              <a:rPr lang="en-US" sz="1000" b="1" dirty="0"/>
              <a:t>Filters</a:t>
            </a:r>
            <a:r>
              <a:rPr lang="en-US" sz="1000" dirty="0"/>
              <a:t> — by severity (?severity=) and by time window (?created-after=, ?created-before=).</a:t>
            </a:r>
          </a:p>
          <a:p>
            <a:pPr marL="171450" lvl="0" indent="-171450">
              <a:buFont typeface="Arial" panose="020B0604020202020204" pitchFamily="34" charset="0"/>
              <a:buChar char="•"/>
            </a:pPr>
            <a:r>
              <a:rPr lang="en-US" sz="1000" b="1" dirty="0"/>
              <a:t>Per-context configuration</a:t>
            </a:r>
            <a:r>
              <a:rPr lang="en-US" sz="1000" dirty="0"/>
              <a:t> — severity threshold per context type (RFC 5424 or AUTOSAR DLT), applied server-side.</a:t>
            </a:r>
          </a:p>
          <a:p>
            <a:pPr marL="171450" lvl="0" indent="-171450">
              <a:buFont typeface="Arial" panose="020B0604020202020204" pitchFamily="34" charset="0"/>
              <a:buChar char="•"/>
            </a:pPr>
            <a:r>
              <a:rPr lang="en-US" sz="1000" b="1" dirty="0"/>
              <a:t>Two log ingestion paths:</a:t>
            </a:r>
            <a:endParaRPr lang="en-US" sz="1000" dirty="0"/>
          </a:p>
          <a:p>
            <a:pPr lvl="1"/>
            <a:r>
              <a:rPr lang="en-US" sz="1000" b="1" dirty="0"/>
              <a:t>	</a:t>
            </a:r>
            <a:r>
              <a:rPr lang="en-US" sz="1000" b="1" dirty="0" err="1"/>
              <a:t>uProtocol</a:t>
            </a:r>
            <a:r>
              <a:rPr lang="en-US" sz="1000" b="1" dirty="0"/>
              <a:t>/</a:t>
            </a:r>
            <a:r>
              <a:rPr lang="en-US" sz="1000" b="1" dirty="0" err="1"/>
              <a:t>Zenoh</a:t>
            </a:r>
            <a:r>
              <a:rPr lang="en-US" sz="1000" dirty="0"/>
              <a:t> — </a:t>
            </a:r>
            <a:r>
              <a:rPr lang="en-US" sz="1000" dirty="0" err="1"/>
              <a:t>getLogs</a:t>
            </a:r>
            <a:r>
              <a:rPr lang="en-US" sz="1000" dirty="0"/>
              <a:t>/</a:t>
            </a:r>
            <a:r>
              <a:rPr lang="en-US" sz="1000" dirty="0" err="1"/>
              <a:t>getConfig</a:t>
            </a:r>
            <a:r>
              <a:rPr lang="en-US" sz="1000" dirty="0"/>
              <a:t>/configure/</a:t>
            </a:r>
            <a:r>
              <a:rPr lang="en-US" sz="1000" dirty="0" err="1"/>
              <a:t>resetConfig</a:t>
            </a:r>
            <a:r>
              <a:rPr lang="en-US" sz="1000" dirty="0"/>
              <a:t> RPCs in 	UPAYLOAD_FORMAT_JSON over a </a:t>
            </a:r>
            <a:r>
              <a:rPr lang="en-US" sz="1000" dirty="0" err="1"/>
              <a:t>Zenoh</a:t>
            </a:r>
            <a:r>
              <a:rPr lang="en-US" sz="1000" dirty="0"/>
              <a:t> TCP transport, to an ECU stand-	in.</a:t>
            </a:r>
          </a:p>
          <a:p>
            <a:pPr lvl="1"/>
            <a:r>
              <a:rPr lang="en-US" sz="1000" b="1" dirty="0"/>
              <a:t>	</a:t>
            </a:r>
            <a:r>
              <a:rPr lang="en-US" sz="1000" b="1" dirty="0" err="1"/>
              <a:t>ThreadX</a:t>
            </a:r>
            <a:r>
              <a:rPr lang="en-US" sz="1000" b="1" dirty="0"/>
              <a:t>/MQTT</a:t>
            </a:r>
            <a:r>
              <a:rPr lang="en-US" sz="1000" dirty="0"/>
              <a:t> — </a:t>
            </a:r>
            <a:r>
              <a:rPr lang="en-US" sz="1000" dirty="0" err="1"/>
              <a:t>MXChip</a:t>
            </a:r>
            <a:r>
              <a:rPr lang="en-US" sz="1000" dirty="0"/>
              <a:t> AZ3166 board (Eclipse </a:t>
            </a:r>
            <a:r>
              <a:rPr lang="en-US" sz="1000" dirty="0" err="1"/>
              <a:t>ThreadX</a:t>
            </a:r>
            <a:r>
              <a:rPr lang="en-US" sz="1000" dirty="0"/>
              <a:t>) publishes logs 	over MQTT → 	telemetry server → SOVD server REST sink.</a:t>
            </a:r>
          </a:p>
          <a:p>
            <a:pPr marL="171450" lvl="0" indent="-171450">
              <a:buFont typeface="Arial" panose="020B0604020202020204" pitchFamily="34" charset="0"/>
              <a:buChar char="•"/>
            </a:pPr>
            <a:r>
              <a:rPr lang="en-US" sz="1000" b="1" dirty="0"/>
              <a:t>Two-process demo</a:t>
            </a:r>
            <a:r>
              <a:rPr lang="en-US" sz="1000" dirty="0"/>
              <a:t> — SOVD server (HPC) + ECU as separate OS processes connected over </a:t>
            </a:r>
            <a:r>
              <a:rPr lang="en-US" sz="1000" dirty="0" err="1"/>
              <a:t>Zenoh</a:t>
            </a:r>
            <a:r>
              <a:rPr lang="en-US" sz="1000" dirty="0"/>
              <a:t>.</a:t>
            </a:r>
          </a:p>
          <a:p>
            <a:pPr marL="171450" lvl="0" indent="-171450">
              <a:buFont typeface="Arial" panose="020B0604020202020204" pitchFamily="34" charset="0"/>
              <a:buChar char="•"/>
            </a:pPr>
            <a:r>
              <a:rPr lang="en-US" sz="1000" b="1" dirty="0"/>
              <a:t>Live viewer UI</a:t>
            </a:r>
            <a:r>
              <a:rPr lang="en-US" sz="1000" dirty="0"/>
              <a:t> — served at /</a:t>
            </a:r>
            <a:r>
              <a:rPr lang="en-US" sz="1000" dirty="0" err="1"/>
              <a:t>ui</a:t>
            </a:r>
            <a:r>
              <a:rPr lang="en-US" sz="1000" dirty="0"/>
              <a:t>/, with context filtering, a severity configuration panel and live SSE mode</a:t>
            </a:r>
            <a:r>
              <a:rPr lang="en-US" sz="1200" dirty="0"/>
              <a:t>.</a:t>
            </a:r>
          </a:p>
          <a:p>
            <a:pPr marL="12700" lvl="0" indent="0" algn="l" rtl="0">
              <a:lnSpc>
                <a:spcPct val="150000"/>
              </a:lnSpc>
              <a:spcBef>
                <a:spcPts val="0"/>
              </a:spcBef>
              <a:spcAft>
                <a:spcPts val="0"/>
              </a:spcAft>
              <a:buNone/>
            </a:pPr>
            <a:endParaRPr sz="1200" i="1" dirty="0">
              <a:solidFill>
                <a:schemeClr val="dk1"/>
              </a:solidFill>
              <a:latin typeface="Roboto"/>
              <a:ea typeface="Roboto"/>
              <a:cs typeface="Roboto"/>
              <a:sym typeface="Roboto"/>
            </a:endParaRPr>
          </a:p>
        </p:txBody>
      </p:sp>
      <p:sp>
        <p:nvSpPr>
          <p:cNvPr id="95" name="Google Shape;95;p17"/>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Product / Service</a:t>
            </a:r>
            <a:endParaRPr sz="400">
              <a:latin typeface="Inter ExtraBold"/>
              <a:ea typeface="Inter ExtraBold"/>
              <a:cs typeface="Inter ExtraBold"/>
              <a:sym typeface="Inter ExtraBold"/>
            </a:endParaRPr>
          </a:p>
        </p:txBody>
      </p:sp>
      <p:pic>
        <p:nvPicPr>
          <p:cNvPr id="5" name="Picture 4">
            <a:extLst>
              <a:ext uri="{FF2B5EF4-FFF2-40B4-BE49-F238E27FC236}">
                <a16:creationId xmlns:a16="http://schemas.microsoft.com/office/drawing/2014/main" id="{102577B7-B2DD-24A1-BD92-EF0841779B32}"/>
              </a:ext>
            </a:extLst>
          </p:cNvPr>
          <p:cNvPicPr>
            <a:picLocks noChangeAspect="1"/>
          </p:cNvPicPr>
          <p:nvPr/>
        </p:nvPicPr>
        <p:blipFill>
          <a:blip r:embed="rId4"/>
          <a:stretch>
            <a:fillRect/>
          </a:stretch>
        </p:blipFill>
        <p:spPr>
          <a:xfrm>
            <a:off x="6134279" y="1025817"/>
            <a:ext cx="2927540" cy="2902083"/>
          </a:xfrm>
          <a:prstGeom prst="rect">
            <a:avLst/>
          </a:prstGeom>
        </p:spPr>
      </p:pic>
      <p:sp>
        <p:nvSpPr>
          <p:cNvPr id="2" name="TextBox 1">
            <a:extLst>
              <a:ext uri="{FF2B5EF4-FFF2-40B4-BE49-F238E27FC236}">
                <a16:creationId xmlns:a16="http://schemas.microsoft.com/office/drawing/2014/main" id="{3B78AE37-6487-624B-14AC-DEDA06286E33}"/>
              </a:ext>
            </a:extLst>
          </p:cNvPr>
          <p:cNvSpPr txBox="1"/>
          <p:nvPr/>
        </p:nvSpPr>
        <p:spPr>
          <a:xfrm>
            <a:off x="7658158" y="2522215"/>
            <a:ext cx="1547433" cy="738664"/>
          </a:xfrm>
          <a:prstGeom prst="rect">
            <a:avLst/>
          </a:prstGeom>
          <a:noFill/>
        </p:spPr>
        <p:txBody>
          <a:bodyPr wrap="square" rtlCol="0">
            <a:spAutoFit/>
          </a:bodyPr>
          <a:lstStyle/>
          <a:p>
            <a:r>
              <a:rPr lang="sv-SE" dirty="0" err="1"/>
              <a:t>OpenSOVD</a:t>
            </a:r>
            <a:endParaRPr lang="sv-SE" dirty="0"/>
          </a:p>
          <a:p>
            <a:endParaRPr lang="sv-SE" dirty="0"/>
          </a:p>
          <a:p>
            <a:r>
              <a:rPr lang="sv-SE" dirty="0" err="1"/>
              <a:t>AutoSD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531B4C"/>
            </a:gs>
            <a:gs pos="100000">
              <a:srgbClr val="AB0761"/>
            </a:gs>
          </a:gsLst>
          <a:lin ang="2700006" scaled="0"/>
        </a:gradFill>
        <a:effectLst/>
      </p:bgPr>
    </p:bg>
    <p:spTree>
      <p:nvGrpSpPr>
        <p:cNvPr id="1" name="Shape 131"/>
        <p:cNvGrpSpPr/>
        <p:nvPr/>
      </p:nvGrpSpPr>
      <p:grpSpPr>
        <a:xfrm>
          <a:off x="0" y="0"/>
          <a:ext cx="0" cy="0"/>
          <a:chOff x="0" y="0"/>
          <a:chExt cx="0" cy="0"/>
        </a:xfrm>
      </p:grpSpPr>
      <p:sp>
        <p:nvSpPr>
          <p:cNvPr id="135" name="Google Shape;135;p22"/>
          <p:cNvSpPr txBox="1"/>
          <p:nvPr/>
        </p:nvSpPr>
        <p:spPr>
          <a:xfrm>
            <a:off x="2544100" y="2523168"/>
            <a:ext cx="2783550" cy="437364"/>
          </a:xfrm>
          <a:prstGeom prst="rect">
            <a:avLst/>
          </a:prstGeom>
          <a:noFill/>
          <a:ln>
            <a:noFill/>
          </a:ln>
        </p:spPr>
        <p:txBody>
          <a:bodyPr spcFirstLastPara="1" wrap="square" lIns="0" tIns="0" rIns="0" bIns="0" anchor="t" anchorCtr="0">
            <a:spAutoFit/>
          </a:bodyPr>
          <a:lstStyle/>
          <a:p>
            <a:pPr marL="0" marR="0" lvl="0" indent="0" algn="l" rtl="0">
              <a:lnSpc>
                <a:spcPct val="97999"/>
              </a:lnSpc>
              <a:spcBef>
                <a:spcPts val="0"/>
              </a:spcBef>
              <a:spcAft>
                <a:spcPts val="0"/>
              </a:spcAft>
              <a:buNone/>
            </a:pPr>
            <a:r>
              <a:rPr lang="en" sz="2800" dirty="0">
                <a:solidFill>
                  <a:srgbClr val="FFFFFF"/>
                </a:solidFill>
              </a:rPr>
              <a:t>Demo Time!!</a:t>
            </a:r>
            <a:endParaRPr sz="2800" b="1" dirty="0">
              <a:solidFill>
                <a:srgbClr val="DB521D"/>
              </a:solidFill>
            </a:endParaRPr>
          </a:p>
          <a:p>
            <a:pPr marL="0" marR="0" lvl="0" indent="0" algn="l" rtl="0">
              <a:lnSpc>
                <a:spcPct val="97999"/>
              </a:lnSpc>
              <a:spcBef>
                <a:spcPts val="0"/>
              </a:spcBef>
              <a:spcAft>
                <a:spcPts val="0"/>
              </a:spcAft>
              <a:buNone/>
            </a:pPr>
            <a:endParaRPr sz="100" dirty="0"/>
          </a:p>
        </p:txBody>
      </p:sp>
      <p:sp>
        <p:nvSpPr>
          <p:cNvPr id="141" name="Google Shape;141;p22"/>
          <p:cNvSpPr/>
          <p:nvPr/>
        </p:nvSpPr>
        <p:spPr>
          <a:xfrm>
            <a:off x="2395624" y="512011"/>
            <a:ext cx="1376366" cy="702594"/>
          </a:xfrm>
          <a:custGeom>
            <a:avLst/>
            <a:gdLst/>
            <a:ahLst/>
            <a:cxnLst/>
            <a:rect l="l" t="t" r="r" b="b"/>
            <a:pathLst>
              <a:path w="4475988" h="2284857" extrusionOk="0">
                <a:moveTo>
                  <a:pt x="0" y="0"/>
                </a:moveTo>
                <a:lnTo>
                  <a:pt x="4475988" y="0"/>
                </a:lnTo>
                <a:lnTo>
                  <a:pt x="4475988" y="2284857"/>
                </a:lnTo>
                <a:lnTo>
                  <a:pt x="0" y="2284857"/>
                </a:lnTo>
                <a:lnTo>
                  <a:pt x="0" y="0"/>
                </a:lnTo>
                <a:close/>
              </a:path>
            </a:pathLst>
          </a:custGeom>
          <a:blipFill rotWithShape="1">
            <a:blip r:embed="rId3">
              <a:alphaModFix/>
            </a:blip>
            <a:stretch>
              <a:fillRect l="-6430" r="-6420" b="-3200"/>
            </a:stretch>
          </a:blipFill>
          <a:ln>
            <a:noFill/>
          </a:ln>
        </p:spPr>
        <p:txBody>
          <a:bodyPr/>
          <a:lstStyle/>
          <a:p>
            <a:endParaRPr lang="en-US"/>
          </a:p>
        </p:txBody>
      </p:sp>
      <p:sp>
        <p:nvSpPr>
          <p:cNvPr id="142" name="Google Shape;142;p22"/>
          <p:cNvSpPr/>
          <p:nvPr/>
        </p:nvSpPr>
        <p:spPr>
          <a:xfrm>
            <a:off x="168246" y="329995"/>
            <a:ext cx="2423160" cy="1066609"/>
          </a:xfrm>
          <a:custGeom>
            <a:avLst/>
            <a:gdLst/>
            <a:ahLst/>
            <a:cxnLst/>
            <a:rect l="l" t="t" r="r" b="b"/>
            <a:pathLst>
              <a:path w="6461760" h="2844292" extrusionOk="0">
                <a:moveTo>
                  <a:pt x="0" y="0"/>
                </a:moveTo>
                <a:lnTo>
                  <a:pt x="6461760" y="0"/>
                </a:lnTo>
                <a:lnTo>
                  <a:pt x="6461760" y="2844292"/>
                </a:lnTo>
                <a:lnTo>
                  <a:pt x="0" y="2844292"/>
                </a:lnTo>
                <a:lnTo>
                  <a:pt x="0" y="0"/>
                </a:lnTo>
                <a:close/>
              </a:path>
            </a:pathLst>
          </a:custGeom>
          <a:blipFill rotWithShape="1">
            <a:blip r:embed="rId4">
              <a:alphaModFix/>
            </a:blip>
            <a:stretch>
              <a:fillRect r="-60"/>
            </a:stretch>
          </a:blipFill>
          <a:ln>
            <a:noFill/>
          </a:ln>
        </p:spPr>
        <p:txBody>
          <a:bodyPr/>
          <a:lstStyle/>
          <a:p>
            <a:endParaRPr lang="en-US"/>
          </a:p>
        </p:txBody>
      </p:sp>
      <p:pic>
        <p:nvPicPr>
          <p:cNvPr id="143" name="Google Shape;143;p22" title="2026_SDV_hackathon_logo_.png"/>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145" name="Google Shape;145;p22"/>
          <p:cNvSpPr txBox="1"/>
          <p:nvPr/>
        </p:nvSpPr>
        <p:spPr>
          <a:xfrm>
            <a:off x="3227575" y="4779825"/>
            <a:ext cx="3000000" cy="29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DF82C-1953-5195-4E87-621F2C574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DD405-AB29-D522-EF8D-0B86BAE1A8AC}"/>
              </a:ext>
            </a:extLst>
          </p:cNvPr>
          <p:cNvSpPr>
            <a:spLocks noGrp="1"/>
          </p:cNvSpPr>
          <p:nvPr>
            <p:ph type="title"/>
          </p:nvPr>
        </p:nvSpPr>
        <p:spPr/>
        <p:txBody>
          <a:bodyPr>
            <a:normAutofit fontScale="90000"/>
          </a:bodyPr>
          <a:lstStyle/>
          <a:p>
            <a:endParaRPr lang="en-US"/>
          </a:p>
        </p:txBody>
      </p:sp>
      <p:pic>
        <p:nvPicPr>
          <p:cNvPr id="7" name="Picture 6">
            <a:extLst>
              <a:ext uri="{FF2B5EF4-FFF2-40B4-BE49-F238E27FC236}">
                <a16:creationId xmlns:a16="http://schemas.microsoft.com/office/drawing/2014/main" id="{3BDBB12E-8664-7346-84B0-A1AC11E76694}"/>
              </a:ext>
            </a:extLst>
          </p:cNvPr>
          <p:cNvPicPr>
            <a:picLocks noChangeAspect="1"/>
          </p:cNvPicPr>
          <p:nvPr/>
        </p:nvPicPr>
        <p:blipFill>
          <a:blip r:embed="rId2"/>
          <a:stretch>
            <a:fillRect/>
          </a:stretch>
        </p:blipFill>
        <p:spPr>
          <a:xfrm>
            <a:off x="0" y="0"/>
            <a:ext cx="5052172" cy="3458534"/>
          </a:xfrm>
          <a:prstGeom prst="rect">
            <a:avLst/>
          </a:prstGeom>
        </p:spPr>
      </p:pic>
      <p:pic>
        <p:nvPicPr>
          <p:cNvPr id="5" name="Picture 4">
            <a:extLst>
              <a:ext uri="{FF2B5EF4-FFF2-40B4-BE49-F238E27FC236}">
                <a16:creationId xmlns:a16="http://schemas.microsoft.com/office/drawing/2014/main" id="{856C9A11-600D-B1B4-39CC-C645B2997E3F}"/>
              </a:ext>
            </a:extLst>
          </p:cNvPr>
          <p:cNvPicPr>
            <a:picLocks noChangeAspect="1"/>
          </p:cNvPicPr>
          <p:nvPr/>
        </p:nvPicPr>
        <p:blipFill>
          <a:blip r:embed="rId3"/>
          <a:stretch>
            <a:fillRect/>
          </a:stretch>
        </p:blipFill>
        <p:spPr>
          <a:xfrm>
            <a:off x="3381060" y="2324637"/>
            <a:ext cx="5762940" cy="2818863"/>
          </a:xfrm>
          <a:prstGeom prst="rect">
            <a:avLst/>
          </a:prstGeom>
        </p:spPr>
      </p:pic>
      <p:sp>
        <p:nvSpPr>
          <p:cNvPr id="8" name="TextBox 7">
            <a:extLst>
              <a:ext uri="{FF2B5EF4-FFF2-40B4-BE49-F238E27FC236}">
                <a16:creationId xmlns:a16="http://schemas.microsoft.com/office/drawing/2014/main" id="{6DDA7B09-EE91-7A90-C653-C29D4BA0285D}"/>
              </a:ext>
            </a:extLst>
          </p:cNvPr>
          <p:cNvSpPr txBox="1"/>
          <p:nvPr/>
        </p:nvSpPr>
        <p:spPr>
          <a:xfrm>
            <a:off x="682580" y="3458534"/>
            <a:ext cx="1498779" cy="307777"/>
          </a:xfrm>
          <a:prstGeom prst="rect">
            <a:avLst/>
          </a:prstGeom>
          <a:noFill/>
        </p:spPr>
        <p:txBody>
          <a:bodyPr wrap="square" rtlCol="0">
            <a:spAutoFit/>
          </a:bodyPr>
          <a:lstStyle/>
          <a:p>
            <a:r>
              <a:rPr lang="sv-SE" dirty="0" err="1"/>
              <a:t>ThreadX</a:t>
            </a:r>
            <a:r>
              <a:rPr lang="sv-SE" dirty="0"/>
              <a:t> </a:t>
            </a:r>
            <a:r>
              <a:rPr lang="sv-SE" dirty="0" err="1"/>
              <a:t>Entity</a:t>
            </a:r>
            <a:endParaRPr lang="en-US" dirty="0"/>
          </a:p>
        </p:txBody>
      </p:sp>
      <p:sp>
        <p:nvSpPr>
          <p:cNvPr id="10" name="TextBox 9">
            <a:extLst>
              <a:ext uri="{FF2B5EF4-FFF2-40B4-BE49-F238E27FC236}">
                <a16:creationId xmlns:a16="http://schemas.microsoft.com/office/drawing/2014/main" id="{7AA64169-5654-0436-4C8C-B19BF709B227}"/>
              </a:ext>
            </a:extLst>
          </p:cNvPr>
          <p:cNvSpPr txBox="1"/>
          <p:nvPr/>
        </p:nvSpPr>
        <p:spPr>
          <a:xfrm>
            <a:off x="6752823" y="1930352"/>
            <a:ext cx="1498779" cy="307777"/>
          </a:xfrm>
          <a:prstGeom prst="rect">
            <a:avLst/>
          </a:prstGeom>
          <a:noFill/>
        </p:spPr>
        <p:txBody>
          <a:bodyPr wrap="square" rtlCol="0">
            <a:spAutoFit/>
          </a:bodyPr>
          <a:lstStyle/>
          <a:p>
            <a:r>
              <a:rPr lang="sv-SE" dirty="0"/>
              <a:t>UI Log View</a:t>
            </a:r>
            <a:endParaRPr lang="en-US" dirty="0"/>
          </a:p>
        </p:txBody>
      </p:sp>
    </p:spTree>
    <p:extLst>
      <p:ext uri="{BB962C8B-B14F-4D97-AF65-F5344CB8AC3E}">
        <p14:creationId xmlns:p14="http://schemas.microsoft.com/office/powerpoint/2010/main" val="2643978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5ED59-3CCA-64E7-43BB-85DE494241BE}"/>
              </a:ext>
            </a:extLst>
          </p:cNvPr>
          <p:cNvSpPr>
            <a:spLocks noGrp="1"/>
          </p:cNvSpPr>
          <p:nvPr>
            <p:ph type="title"/>
          </p:nvPr>
        </p:nvSpPr>
        <p:spPr/>
        <p:txBody>
          <a:bodyPr>
            <a:normAutofit fontScale="90000"/>
          </a:bodyPr>
          <a:lstStyle/>
          <a:p>
            <a:endParaRPr lang="en-US"/>
          </a:p>
        </p:txBody>
      </p:sp>
      <p:pic>
        <p:nvPicPr>
          <p:cNvPr id="4" name="Picture 3">
            <a:extLst>
              <a:ext uri="{FF2B5EF4-FFF2-40B4-BE49-F238E27FC236}">
                <a16:creationId xmlns:a16="http://schemas.microsoft.com/office/drawing/2014/main" id="{82841A0E-2199-9D75-B704-765B2BF08437}"/>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1278229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A22B6-6781-05D9-7523-F88F3C276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3FB54-2048-5514-DA78-F2FBADECDA61}"/>
              </a:ext>
            </a:extLst>
          </p:cNvPr>
          <p:cNvSpPr>
            <a:spLocks noGrp="1"/>
          </p:cNvSpPr>
          <p:nvPr>
            <p:ph type="title"/>
          </p:nvPr>
        </p:nvSpPr>
        <p:spPr/>
        <p:txBody>
          <a:bodyPr>
            <a:normAutofit fontScale="90000"/>
          </a:bodyPr>
          <a:lstStyle/>
          <a:p>
            <a:endParaRPr lang="en-US"/>
          </a:p>
        </p:txBody>
      </p:sp>
      <p:pic>
        <p:nvPicPr>
          <p:cNvPr id="9" name="Picture 8">
            <a:extLst>
              <a:ext uri="{FF2B5EF4-FFF2-40B4-BE49-F238E27FC236}">
                <a16:creationId xmlns:a16="http://schemas.microsoft.com/office/drawing/2014/main" id="{E443DF7E-0A8E-1A30-9A49-21237329BF5E}"/>
              </a:ext>
            </a:extLst>
          </p:cNvPr>
          <p:cNvPicPr>
            <a:picLocks noChangeAspect="1"/>
          </p:cNvPicPr>
          <p:nvPr/>
        </p:nvPicPr>
        <p:blipFill>
          <a:blip r:embed="rId2"/>
          <a:stretch>
            <a:fillRect/>
          </a:stretch>
        </p:blipFill>
        <p:spPr>
          <a:xfrm>
            <a:off x="682579" y="1059632"/>
            <a:ext cx="8461421" cy="4083867"/>
          </a:xfrm>
          <a:prstGeom prst="rect">
            <a:avLst/>
          </a:prstGeom>
        </p:spPr>
      </p:pic>
      <p:pic>
        <p:nvPicPr>
          <p:cNvPr id="11" name="Picture 10">
            <a:extLst>
              <a:ext uri="{FF2B5EF4-FFF2-40B4-BE49-F238E27FC236}">
                <a16:creationId xmlns:a16="http://schemas.microsoft.com/office/drawing/2014/main" id="{D7BAF1A0-0A67-F987-71F0-ACE467AB59FE}"/>
              </a:ext>
            </a:extLst>
          </p:cNvPr>
          <p:cNvPicPr>
            <a:picLocks noChangeAspect="1"/>
          </p:cNvPicPr>
          <p:nvPr/>
        </p:nvPicPr>
        <p:blipFill>
          <a:blip r:embed="rId3"/>
          <a:stretch>
            <a:fillRect/>
          </a:stretch>
        </p:blipFill>
        <p:spPr>
          <a:xfrm>
            <a:off x="-1" y="-1"/>
            <a:ext cx="8768529" cy="1017725"/>
          </a:xfrm>
          <a:prstGeom prst="rect">
            <a:avLst/>
          </a:prstGeom>
        </p:spPr>
      </p:pic>
    </p:spTree>
    <p:extLst>
      <p:ext uri="{BB962C8B-B14F-4D97-AF65-F5344CB8AC3E}">
        <p14:creationId xmlns:p14="http://schemas.microsoft.com/office/powerpoint/2010/main" val="3964127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6A69-D329-AA61-10E9-5E50F5B08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EEA759-56F4-77B9-F8B7-67E8993F8485}"/>
              </a:ext>
            </a:extLst>
          </p:cNvPr>
          <p:cNvSpPr>
            <a:spLocks noGrp="1"/>
          </p:cNvSpPr>
          <p:nvPr>
            <p:ph type="title"/>
          </p:nvPr>
        </p:nvSpPr>
        <p:spPr/>
        <p:txBody>
          <a:bodyPr>
            <a:normAutofit fontScale="90000"/>
          </a:bodyPr>
          <a:lstStyle/>
          <a:p>
            <a:endParaRPr lang="en-US"/>
          </a:p>
        </p:txBody>
      </p:sp>
      <p:pic>
        <p:nvPicPr>
          <p:cNvPr id="7" name="Picture 6">
            <a:extLst>
              <a:ext uri="{FF2B5EF4-FFF2-40B4-BE49-F238E27FC236}">
                <a16:creationId xmlns:a16="http://schemas.microsoft.com/office/drawing/2014/main" id="{4C6D3F66-7E7A-CCD1-3B72-BD488060493C}"/>
              </a:ext>
            </a:extLst>
          </p:cNvPr>
          <p:cNvPicPr>
            <a:picLocks noChangeAspect="1"/>
          </p:cNvPicPr>
          <p:nvPr/>
        </p:nvPicPr>
        <p:blipFill>
          <a:blip r:embed="rId2"/>
          <a:stretch>
            <a:fillRect/>
          </a:stretch>
        </p:blipFill>
        <p:spPr>
          <a:xfrm>
            <a:off x="-48668" y="0"/>
            <a:ext cx="6361666" cy="2846231"/>
          </a:xfrm>
          <a:prstGeom prst="rect">
            <a:avLst/>
          </a:prstGeom>
        </p:spPr>
      </p:pic>
      <p:pic>
        <p:nvPicPr>
          <p:cNvPr id="5" name="Picture 4">
            <a:extLst>
              <a:ext uri="{FF2B5EF4-FFF2-40B4-BE49-F238E27FC236}">
                <a16:creationId xmlns:a16="http://schemas.microsoft.com/office/drawing/2014/main" id="{1408D7FF-3503-13D9-2920-D1014CB77882}"/>
              </a:ext>
            </a:extLst>
          </p:cNvPr>
          <p:cNvPicPr>
            <a:picLocks noChangeAspect="1"/>
          </p:cNvPicPr>
          <p:nvPr/>
        </p:nvPicPr>
        <p:blipFill>
          <a:blip r:embed="rId3"/>
          <a:stretch>
            <a:fillRect/>
          </a:stretch>
        </p:blipFill>
        <p:spPr>
          <a:xfrm>
            <a:off x="2305234" y="2118575"/>
            <a:ext cx="6838765" cy="3024925"/>
          </a:xfrm>
          <a:prstGeom prst="rect">
            <a:avLst/>
          </a:prstGeom>
        </p:spPr>
      </p:pic>
    </p:spTree>
    <p:extLst>
      <p:ext uri="{BB962C8B-B14F-4D97-AF65-F5344CB8AC3E}">
        <p14:creationId xmlns:p14="http://schemas.microsoft.com/office/powerpoint/2010/main" val="129183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1" name="Google Shape;101;p18"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02" name="Google Shape;102;p18"/>
          <p:cNvSpPr txBox="1"/>
          <p:nvPr/>
        </p:nvSpPr>
        <p:spPr>
          <a:xfrm>
            <a:off x="712125" y="1146700"/>
            <a:ext cx="7360200" cy="3378900"/>
          </a:xfrm>
          <a:prstGeom prst="rect">
            <a:avLst/>
          </a:prstGeom>
          <a:noFill/>
          <a:ln>
            <a:noFill/>
          </a:ln>
        </p:spPr>
        <p:txBody>
          <a:bodyPr spcFirstLastPara="1" wrap="square" lIns="91425" tIns="91425" rIns="91425" bIns="91425" anchor="t" anchorCtr="0">
            <a:noAutofit/>
          </a:bodyPr>
          <a:lstStyle/>
          <a:p>
            <a:pPr marL="12700" lvl="0" indent="0" algn="l" rtl="0">
              <a:spcBef>
                <a:spcPts val="0"/>
              </a:spcBef>
              <a:spcAft>
                <a:spcPts val="0"/>
              </a:spcAft>
              <a:buClr>
                <a:schemeClr val="dk1"/>
              </a:buClr>
              <a:buSzPts val="1100"/>
              <a:buFont typeface="Arial"/>
              <a:buNone/>
            </a:pPr>
            <a:r>
              <a:rPr lang="en" b="1" i="1" dirty="0">
                <a:solidFill>
                  <a:schemeClr val="dk1"/>
                </a:solidFill>
                <a:latin typeface="Roboto"/>
                <a:ea typeface="Roboto"/>
                <a:cs typeface="Roboto"/>
                <a:sym typeface="Roboto"/>
              </a:rPr>
              <a:t>Added Value</a:t>
            </a:r>
            <a:r>
              <a:rPr lang="en" i="1" dirty="0">
                <a:solidFill>
                  <a:schemeClr val="dk1"/>
                </a:solidFill>
                <a:latin typeface="Roboto"/>
                <a:ea typeface="Roboto"/>
                <a:cs typeface="Roboto"/>
                <a:sym typeface="Roboto"/>
              </a:rPr>
              <a:t> </a:t>
            </a:r>
          </a:p>
          <a:p>
            <a:pPr marL="298450" lvl="0" indent="-285750" algn="l" rtl="0">
              <a:spcBef>
                <a:spcPts val="0"/>
              </a:spcBef>
              <a:spcAft>
                <a:spcPts val="0"/>
              </a:spcAft>
              <a:buClr>
                <a:schemeClr val="dk1"/>
              </a:buClr>
              <a:buSzPts val="1100"/>
              <a:buFont typeface="Arial" panose="020B0604020202020204" pitchFamily="34" charset="0"/>
              <a:buChar char="•"/>
            </a:pPr>
            <a:r>
              <a:rPr lang="en-US" sz="1000" dirty="0"/>
              <a:t>Fills a real, documented gap: </a:t>
            </a:r>
            <a:r>
              <a:rPr lang="en-US" sz="1000" dirty="0" err="1"/>
              <a:t>OpenSOVD</a:t>
            </a:r>
            <a:r>
              <a:rPr lang="en-US" sz="1000" dirty="0"/>
              <a:t> declares the logs capability but does not implement it. </a:t>
            </a:r>
            <a:r>
              <a:rPr lang="en-US" sz="1000" dirty="0" err="1"/>
              <a:t>TRAceON</a:t>
            </a:r>
            <a:r>
              <a:rPr lang="en-US" sz="1000" dirty="0"/>
              <a:t> delivers that implementation end to end.</a:t>
            </a:r>
          </a:p>
          <a:p>
            <a:pPr marL="285750" lvl="0" indent="-285750">
              <a:buFont typeface="Arial" panose="020B0604020202020204" pitchFamily="34" charset="0"/>
              <a:buChar char="•"/>
            </a:pPr>
            <a:r>
              <a:rPr lang="en-US" sz="1000" dirty="0"/>
              <a:t>Unified, standardized access to logs from multiple ECUs through a single SOVD interface, speeding up root-cause analysis.</a:t>
            </a:r>
          </a:p>
          <a:p>
            <a:pPr marL="285750" lvl="0" indent="-285750">
              <a:buFont typeface="Arial" panose="020B0604020202020204" pitchFamily="34" charset="0"/>
              <a:buChar char="•"/>
            </a:pPr>
            <a:r>
              <a:rPr lang="en-US" sz="1000" dirty="0"/>
              <a:t>Real-time observability via the SSE stream, not just point-in-time reads.</a:t>
            </a:r>
          </a:p>
          <a:p>
            <a:pPr marL="285750" lvl="0" indent="-285750">
              <a:buFont typeface="Arial" panose="020B0604020202020204" pitchFamily="34" charset="0"/>
              <a:buChar char="•"/>
            </a:pPr>
            <a:r>
              <a:rPr lang="en-US" sz="1000" dirty="0"/>
              <a:t>Aligned with the SOVD standard: route structure and contexts (RFC 5424 and AUTOSAR DLT) following ISO 17978-3 §7.21.</a:t>
            </a:r>
          </a:p>
          <a:p>
            <a:pPr marL="285750" lvl="0" indent="-285750">
              <a:buFont typeface="Arial" panose="020B0604020202020204" pitchFamily="34" charset="0"/>
              <a:buChar char="•"/>
            </a:pPr>
            <a:r>
              <a:rPr lang="en-US" sz="1000" dirty="0"/>
              <a:t>Real, modern transport: concrete integration with Eclipse </a:t>
            </a:r>
            <a:r>
              <a:rPr lang="en-US" sz="1000" dirty="0" err="1"/>
              <a:t>uProtocol</a:t>
            </a:r>
            <a:r>
              <a:rPr lang="en-US" sz="1000" dirty="0"/>
              <a:t> (up-rust) over </a:t>
            </a:r>
            <a:r>
              <a:rPr lang="en-US" sz="1000" dirty="0" err="1"/>
              <a:t>Zenoh</a:t>
            </a:r>
            <a:r>
              <a:rPr lang="en-US" sz="1000" dirty="0"/>
              <a:t> — not just a diagram.</a:t>
            </a:r>
          </a:p>
          <a:p>
            <a:pPr marL="285750" indent="-285750">
              <a:buFont typeface="Arial" panose="020B0604020202020204" pitchFamily="34" charset="0"/>
              <a:buChar char="•"/>
            </a:pPr>
            <a:r>
              <a:rPr lang="en-US" sz="1000" dirty="0" err="1"/>
              <a:t>TRAceON</a:t>
            </a:r>
            <a:r>
              <a:rPr lang="en-US" sz="1000" dirty="0"/>
              <a:t> fits into the existing Eclipse SDV ecosystem </a:t>
            </a:r>
            <a:r>
              <a:rPr lang="en-US" sz="1000" b="1" dirty="0"/>
              <a:t>(</a:t>
            </a:r>
            <a:r>
              <a:rPr lang="en-US" sz="1000" b="1" dirty="0" err="1"/>
              <a:t>OpenSOVD</a:t>
            </a:r>
            <a:r>
              <a:rPr lang="en-US" sz="1000" b="1" dirty="0"/>
              <a:t> + </a:t>
            </a:r>
            <a:r>
              <a:rPr lang="en-US" sz="1000" b="1" dirty="0" err="1"/>
              <a:t>uProtocol</a:t>
            </a:r>
            <a:r>
              <a:rPr lang="en-US" sz="1000" b="1" dirty="0"/>
              <a:t> + </a:t>
            </a:r>
            <a:r>
              <a:rPr lang="en-US" sz="1000" b="1" dirty="0" err="1"/>
              <a:t>ThreadX</a:t>
            </a:r>
            <a:r>
              <a:rPr lang="en-US" sz="1000" b="1" dirty="0"/>
              <a:t>)</a:t>
            </a:r>
            <a:r>
              <a:rPr lang="en-US" sz="1000" dirty="0"/>
              <a:t> instead of creating yet       another silo.</a:t>
            </a:r>
          </a:p>
          <a:p>
            <a:pPr marL="285750" indent="-285750">
              <a:buFont typeface="Arial" panose="020B0604020202020204" pitchFamily="34" charset="0"/>
              <a:buChar char="•"/>
            </a:pPr>
            <a:r>
              <a:rPr lang="en-US" sz="1000" dirty="0"/>
              <a:t>Complete deployment chain can be tested in an environment closer to a real automotive target using </a:t>
            </a:r>
            <a:r>
              <a:rPr lang="en-US" sz="1000" b="1" dirty="0" err="1"/>
              <a:t>AutoSD</a:t>
            </a:r>
            <a:endParaRPr lang="en-US" sz="1000" b="1" dirty="0"/>
          </a:p>
          <a:p>
            <a:pPr marL="285750" indent="-285750">
              <a:buFont typeface="Arial" panose="020B0604020202020204" pitchFamily="34" charset="0"/>
              <a:buChar char="•"/>
            </a:pPr>
            <a:r>
              <a:rPr lang="en-US" sz="1000" dirty="0"/>
              <a:t>It is </a:t>
            </a:r>
            <a:r>
              <a:rPr lang="en-US" sz="1000" b="1" dirty="0"/>
              <a:t>upstream-friendly</a:t>
            </a:r>
            <a:r>
              <a:rPr lang="en-US" sz="1000" dirty="0"/>
              <a:t>: built following </a:t>
            </a:r>
            <a:r>
              <a:rPr lang="en-US" sz="1000" dirty="0" err="1"/>
              <a:t>OpenSOVD's</a:t>
            </a:r>
            <a:r>
              <a:rPr lang="en-US" sz="1000" dirty="0"/>
              <a:t> code patterns, with the explicit intent to contribute back to the project</a:t>
            </a:r>
          </a:p>
        </p:txBody>
      </p:sp>
      <p:sp>
        <p:nvSpPr>
          <p:cNvPr id="103" name="Google Shape;103;p18"/>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Added Value</a:t>
            </a:r>
            <a:endParaRPr sz="400">
              <a:latin typeface="Inter ExtraBold"/>
              <a:ea typeface="Inter ExtraBold"/>
              <a:cs typeface="Inter ExtraBold"/>
              <a:sym typeface="Inter Extra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531B4C"/>
            </a:gs>
            <a:gs pos="100000">
              <a:srgbClr val="AB0761"/>
            </a:gs>
          </a:gsLst>
          <a:lin ang="2700006" scaled="0"/>
        </a:gradFill>
        <a:effectLst/>
      </p:bgPr>
    </p:bg>
    <p:spTree>
      <p:nvGrpSpPr>
        <p:cNvPr id="1" name="Shape 131">
          <a:extLst>
            <a:ext uri="{FF2B5EF4-FFF2-40B4-BE49-F238E27FC236}">
              <a16:creationId xmlns:a16="http://schemas.microsoft.com/office/drawing/2014/main" id="{431CB00A-6C5F-0AD7-8109-352873053EB9}"/>
            </a:ext>
          </a:extLst>
        </p:cNvPr>
        <p:cNvGrpSpPr/>
        <p:nvPr/>
      </p:nvGrpSpPr>
      <p:grpSpPr>
        <a:xfrm>
          <a:off x="0" y="0"/>
          <a:ext cx="0" cy="0"/>
          <a:chOff x="0" y="0"/>
          <a:chExt cx="0" cy="0"/>
        </a:xfrm>
      </p:grpSpPr>
      <p:sp>
        <p:nvSpPr>
          <p:cNvPr id="135" name="Google Shape;135;p22">
            <a:extLst>
              <a:ext uri="{FF2B5EF4-FFF2-40B4-BE49-F238E27FC236}">
                <a16:creationId xmlns:a16="http://schemas.microsoft.com/office/drawing/2014/main" id="{0F9785A9-9219-A9FC-3D1F-3EDFAA45586C}"/>
              </a:ext>
            </a:extLst>
          </p:cNvPr>
          <p:cNvSpPr txBox="1"/>
          <p:nvPr/>
        </p:nvSpPr>
        <p:spPr>
          <a:xfrm>
            <a:off x="2544100" y="2523168"/>
            <a:ext cx="2783550" cy="437364"/>
          </a:xfrm>
          <a:prstGeom prst="rect">
            <a:avLst/>
          </a:prstGeom>
          <a:noFill/>
          <a:ln>
            <a:noFill/>
          </a:ln>
        </p:spPr>
        <p:txBody>
          <a:bodyPr spcFirstLastPara="1" wrap="square" lIns="0" tIns="0" rIns="0" bIns="0" anchor="t" anchorCtr="0">
            <a:spAutoFit/>
          </a:bodyPr>
          <a:lstStyle/>
          <a:p>
            <a:pPr marL="0" marR="0" lvl="0" indent="0" algn="l" rtl="0">
              <a:lnSpc>
                <a:spcPct val="97999"/>
              </a:lnSpc>
              <a:spcBef>
                <a:spcPts val="0"/>
              </a:spcBef>
              <a:spcAft>
                <a:spcPts val="0"/>
              </a:spcAft>
              <a:buNone/>
            </a:pPr>
            <a:r>
              <a:rPr lang="en" sz="2800" dirty="0">
                <a:solidFill>
                  <a:srgbClr val="FFFFFF"/>
                </a:solidFill>
              </a:rPr>
              <a:t>Thank You!!</a:t>
            </a:r>
            <a:endParaRPr sz="2800" b="1" dirty="0">
              <a:solidFill>
                <a:srgbClr val="DB521D"/>
              </a:solidFill>
            </a:endParaRPr>
          </a:p>
          <a:p>
            <a:pPr marL="0" marR="0" lvl="0" indent="0" algn="l" rtl="0">
              <a:lnSpc>
                <a:spcPct val="97999"/>
              </a:lnSpc>
              <a:spcBef>
                <a:spcPts val="0"/>
              </a:spcBef>
              <a:spcAft>
                <a:spcPts val="0"/>
              </a:spcAft>
              <a:buNone/>
            </a:pPr>
            <a:endParaRPr sz="100" dirty="0"/>
          </a:p>
        </p:txBody>
      </p:sp>
      <p:sp>
        <p:nvSpPr>
          <p:cNvPr id="141" name="Google Shape;141;p22">
            <a:extLst>
              <a:ext uri="{FF2B5EF4-FFF2-40B4-BE49-F238E27FC236}">
                <a16:creationId xmlns:a16="http://schemas.microsoft.com/office/drawing/2014/main" id="{57A6A25B-DC41-70D3-EBDB-2FAC84C279EC}"/>
              </a:ext>
            </a:extLst>
          </p:cNvPr>
          <p:cNvSpPr/>
          <p:nvPr/>
        </p:nvSpPr>
        <p:spPr>
          <a:xfrm>
            <a:off x="2395624" y="512011"/>
            <a:ext cx="1376366" cy="702594"/>
          </a:xfrm>
          <a:custGeom>
            <a:avLst/>
            <a:gdLst/>
            <a:ahLst/>
            <a:cxnLst/>
            <a:rect l="l" t="t" r="r" b="b"/>
            <a:pathLst>
              <a:path w="4475988" h="2284857" extrusionOk="0">
                <a:moveTo>
                  <a:pt x="0" y="0"/>
                </a:moveTo>
                <a:lnTo>
                  <a:pt x="4475988" y="0"/>
                </a:lnTo>
                <a:lnTo>
                  <a:pt x="4475988" y="2284857"/>
                </a:lnTo>
                <a:lnTo>
                  <a:pt x="0" y="2284857"/>
                </a:lnTo>
                <a:lnTo>
                  <a:pt x="0" y="0"/>
                </a:lnTo>
                <a:close/>
              </a:path>
            </a:pathLst>
          </a:custGeom>
          <a:blipFill rotWithShape="1">
            <a:blip r:embed="rId3">
              <a:alphaModFix/>
            </a:blip>
            <a:stretch>
              <a:fillRect l="-6430" r="-6420" b="-3200"/>
            </a:stretch>
          </a:blipFill>
          <a:ln>
            <a:noFill/>
          </a:ln>
        </p:spPr>
        <p:txBody>
          <a:bodyPr/>
          <a:lstStyle/>
          <a:p>
            <a:endParaRPr lang="en-US"/>
          </a:p>
        </p:txBody>
      </p:sp>
      <p:sp>
        <p:nvSpPr>
          <p:cNvPr id="142" name="Google Shape;142;p22">
            <a:extLst>
              <a:ext uri="{FF2B5EF4-FFF2-40B4-BE49-F238E27FC236}">
                <a16:creationId xmlns:a16="http://schemas.microsoft.com/office/drawing/2014/main" id="{67CD3FD1-50EF-15EC-6267-DB2186F23495}"/>
              </a:ext>
            </a:extLst>
          </p:cNvPr>
          <p:cNvSpPr/>
          <p:nvPr/>
        </p:nvSpPr>
        <p:spPr>
          <a:xfrm>
            <a:off x="168246" y="329995"/>
            <a:ext cx="2423160" cy="1066609"/>
          </a:xfrm>
          <a:custGeom>
            <a:avLst/>
            <a:gdLst/>
            <a:ahLst/>
            <a:cxnLst/>
            <a:rect l="l" t="t" r="r" b="b"/>
            <a:pathLst>
              <a:path w="6461760" h="2844292" extrusionOk="0">
                <a:moveTo>
                  <a:pt x="0" y="0"/>
                </a:moveTo>
                <a:lnTo>
                  <a:pt x="6461760" y="0"/>
                </a:lnTo>
                <a:lnTo>
                  <a:pt x="6461760" y="2844292"/>
                </a:lnTo>
                <a:lnTo>
                  <a:pt x="0" y="2844292"/>
                </a:lnTo>
                <a:lnTo>
                  <a:pt x="0" y="0"/>
                </a:lnTo>
                <a:close/>
              </a:path>
            </a:pathLst>
          </a:custGeom>
          <a:blipFill rotWithShape="1">
            <a:blip r:embed="rId4">
              <a:alphaModFix/>
            </a:blip>
            <a:stretch>
              <a:fillRect r="-60"/>
            </a:stretch>
          </a:blipFill>
          <a:ln>
            <a:noFill/>
          </a:ln>
        </p:spPr>
        <p:txBody>
          <a:bodyPr/>
          <a:lstStyle/>
          <a:p>
            <a:endParaRPr lang="en-US"/>
          </a:p>
        </p:txBody>
      </p:sp>
      <p:pic>
        <p:nvPicPr>
          <p:cNvPr id="143" name="Google Shape;143;p22" title="2026_SDV_hackathon_logo_.png">
            <a:extLst>
              <a:ext uri="{FF2B5EF4-FFF2-40B4-BE49-F238E27FC236}">
                <a16:creationId xmlns:a16="http://schemas.microsoft.com/office/drawing/2014/main" id="{DC3E9BEB-1EAF-6596-1ADB-0BF8BCE44FB7}"/>
              </a:ext>
            </a:extLst>
          </p:cNvPr>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145" name="Google Shape;145;p22">
            <a:extLst>
              <a:ext uri="{FF2B5EF4-FFF2-40B4-BE49-F238E27FC236}">
                <a16:creationId xmlns:a16="http://schemas.microsoft.com/office/drawing/2014/main" id="{7CBE39AF-7DE2-ACF0-7C27-4A4283CD45F5}"/>
              </a:ext>
            </a:extLst>
          </p:cNvPr>
          <p:cNvSpPr txBox="1"/>
          <p:nvPr/>
        </p:nvSpPr>
        <p:spPr>
          <a:xfrm>
            <a:off x="3227575" y="4779825"/>
            <a:ext cx="3000000" cy="29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Tree>
    <p:extLst>
      <p:ext uri="{BB962C8B-B14F-4D97-AF65-F5344CB8AC3E}">
        <p14:creationId xmlns:p14="http://schemas.microsoft.com/office/powerpoint/2010/main" val="3173592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9" name="Google Shape;109;p19"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10" name="Google Shape;110;p19"/>
          <p:cNvSpPr txBox="1"/>
          <p:nvPr/>
        </p:nvSpPr>
        <p:spPr>
          <a:xfrm>
            <a:off x="712125" y="1146700"/>
            <a:ext cx="7360200" cy="3378900"/>
          </a:xfrm>
          <a:prstGeom prst="rect">
            <a:avLst/>
          </a:prstGeom>
          <a:noFill/>
          <a:ln>
            <a:noFill/>
          </a:ln>
        </p:spPr>
        <p:txBody>
          <a:bodyPr spcFirstLastPara="1" wrap="square" lIns="91425" tIns="91425" rIns="91425" bIns="91425" anchor="t" anchorCtr="0">
            <a:noAutofit/>
          </a:bodyPr>
          <a:lstStyle/>
          <a:p>
            <a:pPr marL="12700" lvl="0" indent="0" algn="l" rtl="0">
              <a:spcBef>
                <a:spcPts val="0"/>
              </a:spcBef>
              <a:spcAft>
                <a:spcPts val="0"/>
              </a:spcAft>
              <a:buClr>
                <a:schemeClr val="dk1"/>
              </a:buClr>
              <a:buSzPts val="1100"/>
              <a:buFont typeface="Arial"/>
              <a:buNone/>
            </a:pPr>
            <a:r>
              <a:rPr lang="en" b="1" i="1" dirty="0">
                <a:solidFill>
                  <a:schemeClr val="dk1"/>
                </a:solidFill>
                <a:latin typeface="Roboto"/>
                <a:ea typeface="Roboto"/>
                <a:cs typeface="Roboto"/>
                <a:sym typeface="Roboto"/>
              </a:rPr>
              <a:t>Market Potential</a:t>
            </a:r>
          </a:p>
          <a:p>
            <a:pPr marL="171450" lvl="0" indent="-171450">
              <a:buFont typeface="Arial" panose="020B0604020202020204" pitchFamily="34" charset="0"/>
              <a:buChar char="•"/>
            </a:pPr>
            <a:r>
              <a:rPr lang="en-US" sz="1000" dirty="0"/>
              <a:t>Vehicle diagnostics is mandatory across the entire lifecycle (development, production, after-sales, workshops, fleets).</a:t>
            </a:r>
          </a:p>
          <a:p>
            <a:pPr marL="171450" lvl="0" indent="-171450">
              <a:buFont typeface="Arial" panose="020B0604020202020204" pitchFamily="34" charset="0"/>
              <a:buChar char="•"/>
            </a:pPr>
            <a:r>
              <a:rPr lang="en-US" sz="1000" dirty="0"/>
              <a:t>The industry is moving toward HPC-centric SDV (software-defined vehicle) architectures, where SOVD is the emerging standard for service-oriented diagnostics, replacing legacy UDS-based approaches.</a:t>
            </a:r>
          </a:p>
          <a:p>
            <a:pPr marL="171450" lvl="0" indent="-171450">
              <a:buFont typeface="Arial" panose="020B0604020202020204" pitchFamily="34" charset="0"/>
              <a:buChar char="•"/>
            </a:pPr>
            <a:r>
              <a:rPr lang="en-US" sz="1000" dirty="0"/>
              <a:t>Target audience: OEMs, Tier 1 suppliers, diagnostic tooling vendors, fleet operators and embedded software teams that need standardized observability.</a:t>
            </a:r>
          </a:p>
          <a:p>
            <a:pPr marL="171450" lvl="0" indent="-171450">
              <a:buFont typeface="Arial" panose="020B0604020202020204" pitchFamily="34" charset="0"/>
              <a:buChar char="•"/>
            </a:pPr>
            <a:r>
              <a:rPr lang="en-US" sz="1000" dirty="0"/>
              <a:t>As an open source project within Eclipse SDV, the immediate "market" is adoption by the community and by ecosystem members already using </a:t>
            </a:r>
            <a:r>
              <a:rPr lang="en-US" sz="1000" dirty="0" err="1"/>
              <a:t>OpenSOVD</a:t>
            </a:r>
            <a:endParaRPr lang="en-US" sz="1000" dirty="0"/>
          </a:p>
          <a:p>
            <a:pPr marL="12700" lvl="0">
              <a:buClr>
                <a:schemeClr val="dk1"/>
              </a:buClr>
              <a:buSzPts val="1100"/>
            </a:pPr>
            <a:br>
              <a:rPr lang="en" sz="1800" i="1" dirty="0">
                <a:solidFill>
                  <a:schemeClr val="dk1"/>
                </a:solidFill>
                <a:latin typeface="Roboto"/>
                <a:ea typeface="Roboto"/>
                <a:cs typeface="Roboto"/>
                <a:sym typeface="Roboto"/>
              </a:rPr>
            </a:br>
            <a:r>
              <a:rPr lang="en-US" b="1" dirty="0"/>
              <a:t>Competitors and how we differ</a:t>
            </a:r>
          </a:p>
          <a:p>
            <a:pPr marL="171450" lvl="0" indent="-171450">
              <a:buFont typeface="Arial" panose="020B0604020202020204" pitchFamily="34" charset="0"/>
              <a:buChar char="•"/>
            </a:pPr>
            <a:r>
              <a:rPr lang="en-US" sz="1000" b="1" dirty="0"/>
              <a:t>ECU-specific log tools (e.g., DLT viewers, syslog):</a:t>
            </a:r>
            <a:r>
              <a:rPr lang="en-US" sz="1000" dirty="0"/>
              <a:t> powerful, but isolated per ECU and per protocol. </a:t>
            </a:r>
            <a:r>
              <a:rPr lang="en-US" sz="1000" dirty="0" err="1"/>
              <a:t>TRAceON</a:t>
            </a:r>
            <a:r>
              <a:rPr lang="en-US" sz="1000" dirty="0"/>
              <a:t> aggregates them under a single, standardized SOVD interface.</a:t>
            </a:r>
          </a:p>
          <a:p>
            <a:pPr marL="171450" lvl="0" indent="-171450">
              <a:buFont typeface="Arial" panose="020B0604020202020204" pitchFamily="34" charset="0"/>
              <a:buChar char="•"/>
            </a:pPr>
            <a:r>
              <a:rPr lang="en-US" sz="1000" b="1" dirty="0"/>
              <a:t>Proprietary OEM diagnostic stacks:</a:t>
            </a:r>
            <a:r>
              <a:rPr lang="en-US" sz="1000" dirty="0"/>
              <a:t> closed and expensive. </a:t>
            </a:r>
            <a:r>
              <a:rPr lang="en-US" sz="1000" dirty="0" err="1"/>
              <a:t>TRAceON</a:t>
            </a:r>
            <a:r>
              <a:rPr lang="en-US" sz="1000" dirty="0"/>
              <a:t> is open source and built on an open standard (ISO 17978-3 / SOVD).</a:t>
            </a:r>
          </a:p>
          <a:p>
            <a:pPr marL="171450" lvl="0" indent="-171450">
              <a:buFont typeface="Arial" panose="020B0604020202020204" pitchFamily="34" charset="0"/>
              <a:buChar char="•"/>
            </a:pPr>
            <a:r>
              <a:rPr lang="en-US" sz="1000" b="1" dirty="0" err="1"/>
              <a:t>OpenSOVD</a:t>
            </a:r>
            <a:r>
              <a:rPr lang="en-US" sz="1000" b="1" dirty="0"/>
              <a:t> itself (current state):</a:t>
            </a:r>
            <a:r>
              <a:rPr lang="en-US" sz="1000" dirty="0"/>
              <a:t> declares the logs capability but does not implement it. We are not a competitor — we are the missing implementation, designed to be contributed back.</a:t>
            </a:r>
          </a:p>
          <a:p>
            <a:pPr marL="12700" lvl="0">
              <a:buClr>
                <a:schemeClr val="dk1"/>
              </a:buClr>
              <a:buSzPts val="1100"/>
            </a:pPr>
            <a:endParaRPr i="1" dirty="0">
              <a:solidFill>
                <a:schemeClr val="dk1"/>
              </a:solidFill>
              <a:latin typeface="Roboto"/>
              <a:ea typeface="Roboto"/>
              <a:cs typeface="Roboto"/>
              <a:sym typeface="Roboto"/>
            </a:endParaRPr>
          </a:p>
        </p:txBody>
      </p:sp>
      <p:sp>
        <p:nvSpPr>
          <p:cNvPr id="111" name="Google Shape;111;p19"/>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Market &amp; Competition</a:t>
            </a:r>
            <a:endParaRPr sz="400">
              <a:latin typeface="Inter ExtraBold"/>
              <a:ea typeface="Inter ExtraBold"/>
              <a:cs typeface="Inter ExtraBold"/>
              <a:sym typeface="Inter Extra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17" name="Google Shape;117;p20"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18" name="Google Shape;118;p20"/>
          <p:cNvSpPr txBox="1"/>
          <p:nvPr/>
        </p:nvSpPr>
        <p:spPr>
          <a:xfrm>
            <a:off x="712125" y="1146700"/>
            <a:ext cx="7360200" cy="3378900"/>
          </a:xfrm>
          <a:prstGeom prst="rect">
            <a:avLst/>
          </a:prstGeom>
          <a:noFill/>
          <a:ln>
            <a:noFill/>
          </a:ln>
        </p:spPr>
        <p:txBody>
          <a:bodyPr spcFirstLastPara="1" wrap="square" lIns="91425" tIns="91425" rIns="91425" bIns="91425" anchor="t" anchorCtr="0">
            <a:noAutofit/>
          </a:bodyPr>
          <a:lstStyle/>
          <a:p>
            <a:pPr marL="12700" lvl="0"/>
            <a:r>
              <a:rPr lang="en-US" b="1" dirty="0"/>
              <a:t>How we generate value / “sales”</a:t>
            </a:r>
          </a:p>
          <a:p>
            <a:pPr marL="171450" lvl="0" indent="-171450">
              <a:buFont typeface="Arial" panose="020B0604020202020204" pitchFamily="34" charset="0"/>
              <a:buChar char="•"/>
            </a:pPr>
            <a:r>
              <a:rPr lang="en-US" sz="1000" dirty="0"/>
              <a:t>Upstream contribution to </a:t>
            </a:r>
            <a:r>
              <a:rPr lang="en-US" sz="1000" dirty="0" err="1"/>
              <a:t>OpenSOVD</a:t>
            </a:r>
            <a:r>
              <a:rPr lang="en-US" sz="1000" dirty="0"/>
              <a:t> as the standard logging foundation, increasing adoption of the Eclipse SDV ecosystem.</a:t>
            </a:r>
          </a:p>
          <a:p>
            <a:pPr marL="171450" lvl="0" indent="-171450">
              <a:buFont typeface="Arial" panose="020B0604020202020204" pitchFamily="34" charset="0"/>
              <a:buChar char="•"/>
            </a:pPr>
            <a:r>
              <a:rPr lang="en-US" sz="1000" dirty="0"/>
              <a:t>Value-added services around the open source core: integration with real telemetry pipelines (DLT/</a:t>
            </a:r>
            <a:r>
              <a:rPr lang="en-US" sz="1000" dirty="0" err="1"/>
              <a:t>journald</a:t>
            </a:r>
            <a:r>
              <a:rPr lang="en-US" sz="1000" dirty="0"/>
              <a:t>), dashboards, support and customization for OEMs/Tier 1 suppliers.</a:t>
            </a:r>
          </a:p>
          <a:p>
            <a:pPr marL="12700" lvl="0"/>
            <a:endParaRPr sz="1800" i="1" dirty="0">
              <a:solidFill>
                <a:schemeClr val="dk1"/>
              </a:solidFill>
              <a:latin typeface="Roboto"/>
              <a:ea typeface="Roboto"/>
              <a:cs typeface="Roboto"/>
              <a:sym typeface="Roboto"/>
            </a:endParaRPr>
          </a:p>
          <a:p>
            <a:pPr marL="12700" lvl="0"/>
            <a:r>
              <a:rPr lang="en-US" b="1" dirty="0"/>
              <a:t>How we implement the model</a:t>
            </a:r>
          </a:p>
          <a:p>
            <a:pPr marL="171450" lvl="0" indent="-171450">
              <a:buFont typeface="Arial" panose="020B0604020202020204" pitchFamily="34" charset="0"/>
              <a:buChar char="•"/>
            </a:pPr>
            <a:r>
              <a:rPr lang="en-US" sz="1000" dirty="0"/>
              <a:t>Open an issue and a draft PR on eclipse-</a:t>
            </a:r>
            <a:r>
              <a:rPr lang="en-US" sz="1000" dirty="0" err="1"/>
              <a:t>opensovd</a:t>
            </a:r>
            <a:r>
              <a:rPr lang="en-US" sz="1000" dirty="0"/>
              <a:t>/</a:t>
            </a:r>
            <a:r>
              <a:rPr lang="en-US" sz="1000" dirty="0" err="1"/>
              <a:t>opensovd</a:t>
            </a:r>
            <a:r>
              <a:rPr lang="en-US" sz="1000" dirty="0"/>
              <a:t>-core to align the trait and models with the maintainers.</a:t>
            </a:r>
          </a:p>
          <a:p>
            <a:pPr marL="171450" lvl="0" indent="-171450">
              <a:buFont typeface="Arial" panose="020B0604020202020204" pitchFamily="34" charset="0"/>
              <a:buChar char="•"/>
            </a:pPr>
            <a:r>
              <a:rPr lang="en-US" sz="1000" dirty="0"/>
              <a:t>Stabilize: generic per-entity routes, route tests, mock provider, SSE via standard mechanisms (subscriptions/triggers).</a:t>
            </a:r>
          </a:p>
          <a:p>
            <a:pPr marL="171450" lvl="0" indent="-171450">
              <a:buFont typeface="Arial" panose="020B0604020202020204" pitchFamily="34" charset="0"/>
              <a:buChar char="•"/>
            </a:pPr>
            <a:r>
              <a:rPr lang="en-US" sz="1000" dirty="0"/>
              <a:t>Evolve real ingestion (DLT/</a:t>
            </a:r>
            <a:r>
              <a:rPr lang="en-US" sz="1000" dirty="0" err="1"/>
              <a:t>journald</a:t>
            </a:r>
            <a:r>
              <a:rPr lang="en-US" sz="1000" dirty="0"/>
              <a:t>), multi-ECU topology and continuous health monitoring.</a:t>
            </a:r>
          </a:p>
          <a:p>
            <a:pPr marL="171450" lvl="0" indent="-171450">
              <a:buFont typeface="Arial" panose="020B0604020202020204" pitchFamily="34" charset="0"/>
              <a:buChar char="•"/>
            </a:pPr>
            <a:r>
              <a:rPr lang="en-US" sz="1000" dirty="0"/>
              <a:t>Eclipse </a:t>
            </a:r>
            <a:r>
              <a:rPr lang="en-US" sz="1000" dirty="0" err="1"/>
              <a:t>openDUT</a:t>
            </a:r>
            <a:r>
              <a:rPr lang="en-US" sz="1000" dirty="0"/>
              <a:t> integration for fleet deployment and test orchestration.</a:t>
            </a:r>
          </a:p>
          <a:p>
            <a:pPr marL="12700" lvl="0"/>
            <a:endParaRPr sz="1800" i="1" dirty="0">
              <a:solidFill>
                <a:schemeClr val="dk1"/>
              </a:solidFill>
              <a:latin typeface="Roboto"/>
              <a:ea typeface="Roboto"/>
              <a:cs typeface="Roboto"/>
              <a:sym typeface="Roboto"/>
            </a:endParaRPr>
          </a:p>
          <a:p>
            <a:pPr marL="12700" lvl="0"/>
            <a:r>
              <a:rPr lang="en-US" b="1" dirty="0"/>
              <a:t>Required funds and their use</a:t>
            </a:r>
            <a:endParaRPr sz="1800" i="1" dirty="0">
              <a:solidFill>
                <a:schemeClr val="dk1"/>
              </a:solidFill>
              <a:latin typeface="Roboto"/>
              <a:ea typeface="Roboto"/>
              <a:cs typeface="Roboto"/>
              <a:sym typeface="Roboto"/>
            </a:endParaRPr>
          </a:p>
          <a:p>
            <a:pPr marL="171450" lvl="0" indent="-171450">
              <a:buFont typeface="Arial" panose="020B0604020202020204" pitchFamily="34" charset="0"/>
              <a:buChar char="•"/>
            </a:pPr>
            <a:r>
              <a:rPr lang="en-US" sz="1000" dirty="0"/>
              <a:t>Engineering time for hardening and the upstream contribution process (review, rebase, tests).</a:t>
            </a:r>
          </a:p>
          <a:p>
            <a:pPr marL="171450" lvl="0" indent="-171450">
              <a:buFont typeface="Arial" panose="020B0604020202020204" pitchFamily="34" charset="0"/>
              <a:buChar char="•"/>
            </a:pPr>
            <a:r>
              <a:rPr lang="en-US" sz="1000" dirty="0"/>
              <a:t>CI and test-bench infrastructure (ECU/</a:t>
            </a:r>
            <a:r>
              <a:rPr lang="en-US" sz="1000" dirty="0" err="1"/>
              <a:t>ThreadX</a:t>
            </a:r>
            <a:r>
              <a:rPr lang="en-US" sz="1000" dirty="0"/>
              <a:t> hardware, brokers, </a:t>
            </a:r>
            <a:r>
              <a:rPr lang="en-US" sz="1000" dirty="0" err="1"/>
              <a:t>Zenoh</a:t>
            </a:r>
            <a:r>
              <a:rPr lang="en-US" sz="1000" dirty="0"/>
              <a:t> environments).</a:t>
            </a:r>
          </a:p>
          <a:p>
            <a:pPr marL="171450" lvl="0" indent="-171450">
              <a:buFont typeface="Arial" panose="020B0604020202020204" pitchFamily="34" charset="0"/>
              <a:buChar char="•"/>
            </a:pPr>
            <a:r>
              <a:rPr lang="en-US" sz="1000" dirty="0"/>
              <a:t>Documentation and developer-advocacy work to drive community adoption.</a:t>
            </a:r>
          </a:p>
          <a:p>
            <a:pPr marL="12700" lvl="0" indent="0" algn="l" rtl="0">
              <a:lnSpc>
                <a:spcPct val="150000"/>
              </a:lnSpc>
              <a:spcBef>
                <a:spcPts val="0"/>
              </a:spcBef>
              <a:spcAft>
                <a:spcPts val="0"/>
              </a:spcAft>
              <a:buNone/>
            </a:pPr>
            <a:endParaRPr sz="1800" i="1" dirty="0">
              <a:solidFill>
                <a:schemeClr val="dk1"/>
              </a:solidFill>
              <a:latin typeface="Roboto"/>
              <a:ea typeface="Roboto"/>
              <a:cs typeface="Roboto"/>
              <a:sym typeface="Roboto"/>
            </a:endParaRPr>
          </a:p>
        </p:txBody>
      </p:sp>
      <p:sp>
        <p:nvSpPr>
          <p:cNvPr id="119" name="Google Shape;119;p20"/>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The Business Model | Plan and Funds</a:t>
            </a:r>
            <a:endParaRPr sz="400">
              <a:latin typeface="Inter ExtraBold"/>
              <a:ea typeface="Inter ExtraBold"/>
              <a:cs typeface="Inter ExtraBold"/>
              <a:sym typeface="Inter Extra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25" name="Google Shape;125;p21"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26" name="Google Shape;126;p21"/>
          <p:cNvSpPr txBox="1"/>
          <p:nvPr/>
        </p:nvSpPr>
        <p:spPr>
          <a:xfrm>
            <a:off x="712125" y="1146700"/>
            <a:ext cx="7360200" cy="3378900"/>
          </a:xfrm>
          <a:prstGeom prst="rect">
            <a:avLst/>
          </a:prstGeom>
          <a:noFill/>
          <a:ln>
            <a:noFill/>
          </a:ln>
        </p:spPr>
        <p:txBody>
          <a:bodyPr spcFirstLastPara="1" wrap="square" lIns="91425" tIns="91425" rIns="91425" bIns="91425" anchor="t" anchorCtr="0">
            <a:noAutofit/>
          </a:bodyPr>
          <a:lstStyle/>
          <a:p>
            <a:pPr marL="12700" lvl="0"/>
            <a:r>
              <a:rPr lang="en-US" dirty="0"/>
              <a:t>Repository: </a:t>
            </a:r>
            <a:r>
              <a:rPr lang="en-US" dirty="0" err="1"/>
              <a:t>TRAceON</a:t>
            </a:r>
            <a:r>
              <a:rPr lang="en-US" dirty="0"/>
              <a:t> (</a:t>
            </a:r>
            <a:r>
              <a:rPr lang="en-US" dirty="0" err="1"/>
              <a:t>OpenSOVD</a:t>
            </a:r>
            <a:r>
              <a:rPr lang="en-US" dirty="0"/>
              <a:t> fork at </a:t>
            </a:r>
            <a:r>
              <a:rPr lang="en-US" dirty="0" err="1"/>
              <a:t>open_source</a:t>
            </a:r>
            <a:r>
              <a:rPr lang="en-US" dirty="0"/>
              <a:t>/</a:t>
            </a:r>
            <a:r>
              <a:rPr lang="en-US" dirty="0" err="1"/>
              <a:t>opensovd</a:t>
            </a:r>
            <a:r>
              <a:rPr lang="en-US" dirty="0"/>
              <a:t>-core)</a:t>
            </a:r>
          </a:p>
          <a:p>
            <a:pPr marL="12700" lvl="0"/>
            <a:endParaRPr sz="1800" i="1" dirty="0">
              <a:solidFill>
                <a:schemeClr val="dk1"/>
              </a:solidFill>
              <a:latin typeface="Roboto"/>
              <a:ea typeface="Roboto"/>
              <a:cs typeface="Roboto"/>
              <a:sym typeface="Roboto"/>
            </a:endParaRPr>
          </a:p>
          <a:p>
            <a:pPr marL="12700" lvl="0" indent="0" algn="l" rtl="0">
              <a:lnSpc>
                <a:spcPct val="150000"/>
              </a:lnSpc>
              <a:spcBef>
                <a:spcPts val="0"/>
              </a:spcBef>
              <a:spcAft>
                <a:spcPts val="0"/>
              </a:spcAft>
              <a:buNone/>
            </a:pPr>
            <a:endParaRPr sz="1800" i="1" dirty="0">
              <a:solidFill>
                <a:schemeClr val="dk1"/>
              </a:solidFill>
              <a:latin typeface="Roboto"/>
              <a:ea typeface="Roboto"/>
              <a:cs typeface="Roboto"/>
              <a:sym typeface="Roboto"/>
            </a:endParaRPr>
          </a:p>
        </p:txBody>
      </p:sp>
      <p:sp>
        <p:nvSpPr>
          <p:cNvPr id="127" name="Google Shape;127;p21"/>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 sz="1820" b="1">
                <a:solidFill>
                  <a:srgbClr val="701C7F"/>
                </a:solidFill>
                <a:latin typeface="Inter"/>
                <a:ea typeface="Inter"/>
                <a:cs typeface="Inter"/>
                <a:sym typeface="Inter"/>
              </a:rPr>
              <a:t>Contact</a:t>
            </a:r>
            <a:endParaRPr sz="400">
              <a:latin typeface="Inter ExtraBold"/>
              <a:ea typeface="Inter ExtraBold"/>
              <a:cs typeface="Inter ExtraBold"/>
              <a:sym typeface="Inter ExtraBo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7f2ec83-e677-438d-afb7-4c7c0dbc872b}" enabled="1" method="Standard" siteId="{3bc062e4-ac9d-4c17-b4dd-3aad637ff1ac}" contentBits="0" removed="0"/>
</clbl:labelList>
</file>

<file path=docProps/app.xml><?xml version="1.0" encoding="utf-8"?>
<Properties xmlns="http://schemas.openxmlformats.org/officeDocument/2006/extended-properties" xmlns:vt="http://schemas.openxmlformats.org/officeDocument/2006/docPropsVTypes">
  <TotalTime>225</TotalTime>
  <Words>1295</Words>
  <Application>Microsoft Office PowerPoint</Application>
  <PresentationFormat>On-screen Show (16:9)</PresentationFormat>
  <Paragraphs>101</Paragraphs>
  <Slides>15</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Inter</vt:lpstr>
      <vt:lpstr>Inter ExtraBold</vt:lpstr>
      <vt:lpstr>Roboto</vt:lpstr>
      <vt:lpstr>Sora</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Bidya Priyankkumar</cp:lastModifiedBy>
  <cp:revision>27</cp:revision>
  <dcterms:modified xsi:type="dcterms:W3CDTF">2026-10-08T09:13:51Z</dcterms:modified>
</cp:coreProperties>
</file>